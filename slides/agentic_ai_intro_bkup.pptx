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309" r:id="rId3"/>
    <p:sldId id="310" r:id="rId4"/>
    <p:sldId id="311" r:id="rId5"/>
    <p:sldId id="257" r:id="rId6"/>
    <p:sldId id="314" r:id="rId7"/>
    <p:sldId id="258" r:id="rId8"/>
    <p:sldId id="259" r:id="rId9"/>
    <p:sldId id="315" r:id="rId10"/>
    <p:sldId id="260" r:id="rId11"/>
    <p:sldId id="261" r:id="rId12"/>
    <p:sldId id="312" r:id="rId13"/>
    <p:sldId id="266" r:id="rId14"/>
    <p:sldId id="313" r:id="rId15"/>
    <p:sldId id="267" r:id="rId16"/>
    <p:sldId id="268" r:id="rId17"/>
    <p:sldId id="269" r:id="rId18"/>
    <p:sldId id="294" r:id="rId19"/>
    <p:sldId id="270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9" r:id="rId37"/>
    <p:sldId id="290" r:id="rId38"/>
    <p:sldId id="291" r:id="rId39"/>
    <p:sldId id="293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A8E5D-A49E-4635-AF6A-3FBEBC85C722}" v="4" dt="2026-09-07T09:56:16.674"/>
    <p1510:client id="{9AD79796-B627-473C-9F6A-F64993093037}" v="279" dt="2026-09-08T02:30:11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A0BFB-5BFB-493E-90AB-43A362F1229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D9407-72F0-49A3-97A5-A62061E5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9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AAAC7-0229-8AE0-9ACF-32452E0D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48139-6F90-5010-58E3-4107F6DCD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2F981-AA6D-FF45-8907-ABA069B81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03572-E0DF-0660-354A-C5AFB8430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5693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CC6B-3F47-32FE-7621-FD550707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A92DC-A4A3-82A7-5208-AEB44D010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51011-C98E-546A-15D7-18219AA9B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E6047-A810-9A7A-D359-C309598A3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20228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F4007-9740-E979-E759-28120277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5E336-F980-F89F-C840-E06324A35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B5CD1-719D-F4C6-A930-80A1DC7E5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8B066-A142-241F-09E9-867F6D397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53539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ADC3-4CE5-9706-DE91-AB51440D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86998-2A96-E77B-3DCC-8D674904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ADFEF-59BE-02F4-9C83-804D22BCA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954AA-D56F-2B66-9BDD-8074E2638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49087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head-to-head cell live if time allows. Expect ReAct to vary run to run; MPC is much more stable because the surrogate does the deciding.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65960"/>
            <a:ext cx="110578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A1A1A"/>
                </a:solidFill>
                <a:latin typeface="Calibri"/>
              </a:rPr>
              <a:t>Foundations of Agentic AI</a:t>
            </a:r>
          </a:p>
          <a:p>
            <a:r>
              <a:rPr sz="4200" b="1">
                <a:solidFill>
                  <a:srgbClr val="1A1A1A"/>
                </a:solidFill>
                <a:latin typeface="Calibri"/>
              </a:rPr>
              <a:t>for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794760"/>
            <a:ext cx="11057839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 dirty="0">
                <a:solidFill>
                  <a:srgbClr val="AA1E1E"/>
                </a:solidFill>
                <a:latin typeface="Calibri"/>
              </a:rPr>
              <a:t>AESCAPE 2026  ·  Introduction to Agentic Workflows</a:t>
            </a:r>
          </a:p>
          <a:p>
            <a:pPr>
              <a:spcAft>
                <a:spcPts val="300"/>
              </a:spcAft>
            </a:pPr>
            <a:endParaRPr sz="1700" b="0" dirty="0">
              <a:solidFill>
                <a:srgbClr val="AA1E1E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1A1A1A"/>
                </a:solidFill>
                <a:latin typeface="Calibri"/>
              </a:rPr>
              <a:t>Nathaniel Trask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6E6E6E"/>
                </a:solidFill>
                <a:latin typeface="Calibri"/>
              </a:rPr>
              <a:t>University of Pennsylvania</a:t>
            </a:r>
            <a:endParaRPr lang="en-US" sz="1300" b="0" dirty="0">
              <a:solidFill>
                <a:srgbClr val="6E6E6E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6E6E6E"/>
                </a:solidFill>
                <a:latin typeface="Calibri"/>
              </a:rPr>
              <a:t>Sandia National Laboratories</a:t>
            </a:r>
            <a:endParaRPr sz="1300" b="0" dirty="0">
              <a:solidFill>
                <a:srgbClr val="6E6E6E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6E6E6E"/>
                </a:solidFill>
                <a:latin typeface="Calibri"/>
              </a:rPr>
              <a:t>September 8,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3675887"/>
            <a:ext cx="3108959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B280553-7DC8-D731-0765-FD58A4AEF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851" y="1285875"/>
            <a:ext cx="428625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9C3D-6E30-4108-314F-4850D863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88BE0F-99BD-9BFD-740B-BF5CF0B36ADB}"/>
              </a:ext>
            </a:extLst>
          </p:cNvPr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BB62-3F74-0099-33D6-BD874F57F3AF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44751-51AD-FAA1-5386-35D0A623810D}"/>
              </a:ext>
            </a:extLst>
          </p:cNvPr>
          <p:cNvSpPr txBox="1"/>
          <p:nvPr/>
        </p:nvSpPr>
        <p:spPr>
          <a:xfrm>
            <a:off x="566928" y="1078992"/>
            <a:ext cx="11057839" cy="15696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 dirty="0">
                <a:solidFill>
                  <a:srgbClr val="1A1A1A"/>
                </a:solidFill>
                <a:latin typeface="Calibri"/>
              </a:rPr>
              <a:t>1.  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Foundations</a:t>
            </a:r>
            <a:r>
              <a:rPr lang="en-US" sz="1700" b="1" dirty="0">
                <a:solidFill>
                  <a:srgbClr val="1A1A1A"/>
                </a:solidFill>
                <a:latin typeface="Calibri"/>
              </a:rPr>
              <a:t> (Trask)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.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 dirty="0">
                <a:solidFill>
                  <a:srgbClr val="1A1A1A"/>
                </a:solidFill>
                <a:latin typeface="Calibri"/>
              </a:rPr>
              <a:t>Setting up an API, Agentic frameworks, steering some simple scientific computing workflows</a:t>
            </a:r>
            <a:endParaRPr sz="1700" b="0" dirty="0">
              <a:solidFill>
                <a:srgbClr val="1A1A1A"/>
              </a:solidFill>
              <a:latin typeface="Calibri"/>
            </a:endParaRPr>
          </a:p>
          <a:p>
            <a:r>
              <a:rPr sz="800" dirty="0"/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 dirty="0">
                <a:solidFill>
                  <a:srgbClr val="1A1A1A"/>
                </a:solidFill>
                <a:latin typeface="Calibri"/>
              </a:rPr>
              <a:t>2.  </a:t>
            </a:r>
            <a:r>
              <a:rPr lang="en-US" sz="1700" b="1" dirty="0">
                <a:solidFill>
                  <a:srgbClr val="1A1A1A"/>
                </a:solidFill>
                <a:latin typeface="Calibri"/>
              </a:rPr>
              <a:t>Advanced topics (Koester)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.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 dirty="0">
                <a:solidFill>
                  <a:srgbClr val="1A1A1A"/>
                </a:solidFill>
                <a:latin typeface="Calibri"/>
              </a:rPr>
              <a:t>Constructing a production agentic framework </a:t>
            </a:r>
            <a:endParaRPr sz="1700" b="0" i="1" dirty="0">
              <a:solidFill>
                <a:srgbClr val="1A1A1A"/>
              </a:solidFill>
              <a:latin typeface="Calibri"/>
            </a:endParaRPr>
          </a:p>
          <a:p>
            <a:r>
              <a:rPr sz="800" dirty="0"/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 dirty="0">
                <a:solidFill>
                  <a:srgbClr val="1A1A1A"/>
                </a:solidFill>
                <a:latin typeface="Calibri"/>
              </a:rPr>
              <a:t>3.  </a:t>
            </a:r>
            <a:r>
              <a:rPr lang="en-US" sz="1700" b="1" dirty="0">
                <a:solidFill>
                  <a:srgbClr val="1A1A1A"/>
                </a:solidFill>
                <a:latin typeface="Calibri"/>
              </a:rPr>
              <a:t>Agentic geometry (Owen)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.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 dirty="0">
                <a:solidFill>
                  <a:srgbClr val="1A1A1A"/>
                </a:solidFill>
                <a:latin typeface="Calibri"/>
              </a:rPr>
              <a:t>Incorporating agents into CAD/meshing</a:t>
            </a:r>
            <a:endParaRPr sz="1700" b="0" dirty="0">
              <a:solidFill>
                <a:srgbClr val="1A1A1A"/>
              </a:solidFill>
              <a:latin typeface="Calibri"/>
            </a:endParaRPr>
          </a:p>
          <a:p>
            <a:r>
              <a:rPr sz="800" dirty="0"/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 dirty="0">
                <a:solidFill>
                  <a:srgbClr val="1A1A1A"/>
                </a:solidFill>
                <a:latin typeface="Calibri"/>
              </a:rPr>
              <a:t>4.  </a:t>
            </a:r>
            <a:r>
              <a:rPr lang="en-US" sz="1700" b="1" dirty="0">
                <a:solidFill>
                  <a:srgbClr val="1A1A1A"/>
                </a:solidFill>
                <a:latin typeface="Calibri"/>
              </a:rPr>
              <a:t>Structures + materials (Bessa)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.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 dirty="0">
                <a:solidFill>
                  <a:srgbClr val="1A1A1A"/>
                </a:solidFill>
                <a:latin typeface="Calibri"/>
              </a:rPr>
              <a:t>Using </a:t>
            </a:r>
            <a:r>
              <a:rPr lang="en-US" sz="1700" b="0" i="1" dirty="0">
                <a:solidFill>
                  <a:srgbClr val="1A1A1A"/>
                </a:solidFill>
                <a:latin typeface="Calibri"/>
              </a:rPr>
              <a:t>f3dasm</a:t>
            </a:r>
            <a:r>
              <a:rPr lang="en-US" sz="1700" b="0" dirty="0">
                <a:solidFill>
                  <a:srgbClr val="1A1A1A"/>
                </a:solidFill>
                <a:latin typeface="Calibri"/>
              </a:rPr>
              <a:t> for data-driven design and analysis of structures and materials</a:t>
            </a:r>
            <a:endParaRPr sz="1700" b="0" dirty="0">
              <a:solidFill>
                <a:srgbClr val="1A1A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7007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74B3-007D-6651-EA57-0362A9DF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63AA2-FE8F-D076-E076-CAE54518B074}"/>
              </a:ext>
            </a:extLst>
          </p:cNvPr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1A1A1A"/>
                </a:solidFill>
                <a:latin typeface="Calibri"/>
              </a:rPr>
              <a:t>Background</a:t>
            </a:r>
            <a:endParaRPr sz="25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C0A4B-02F3-7922-9788-2F3B79D4C50A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6B62F-9829-0D20-B2AC-D72F1D73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6" y="786285"/>
            <a:ext cx="3802107" cy="1518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6C62C5-DF80-C649-5601-F74AAF0D8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6" y="2266849"/>
            <a:ext cx="3670065" cy="1518819"/>
          </a:xfrm>
          <a:prstGeom prst="rect">
            <a:avLst/>
          </a:prstGeom>
        </p:spPr>
      </p:pic>
      <p:pic>
        <p:nvPicPr>
          <p:cNvPr id="9" name="Picture 8" descr="Forms response chart. Question title: How familiar are you with machine learning (PyTorch, Jax, Tensorflow, etc). Number of responses: 8 responses.">
            <a:extLst>
              <a:ext uri="{FF2B5EF4-FFF2-40B4-BE49-F238E27FC236}">
                <a16:creationId xmlns:a16="http://schemas.microsoft.com/office/drawing/2014/main" id="{066D57BA-3046-04F9-14FF-1D9342426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73" y="3851339"/>
            <a:ext cx="3615490" cy="1521272"/>
          </a:xfrm>
          <a:prstGeom prst="rect">
            <a:avLst/>
          </a:prstGeom>
        </p:spPr>
      </p:pic>
      <p:pic>
        <p:nvPicPr>
          <p:cNvPr id="10" name="Picture 9" descr="Forms response chart. Question title: What is your background/goals for agentic AI. Number of responses: 8 responses.">
            <a:extLst>
              <a:ext uri="{FF2B5EF4-FFF2-40B4-BE49-F238E27FC236}">
                <a16:creationId xmlns:a16="http://schemas.microsoft.com/office/drawing/2014/main" id="{D7E89231-F49C-403B-4FFE-CDF4184C1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626" y="5266232"/>
            <a:ext cx="3615490" cy="15212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FBBFC7-2582-3F08-7A48-6142DF67BA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7322" y="1706731"/>
            <a:ext cx="5692633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6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1B51-9A65-CA97-0546-B2AD3620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056340-395C-1D12-4256-BDB7BE699D14}"/>
              </a:ext>
            </a:extLst>
          </p:cNvPr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1A1A1A"/>
                </a:solidFill>
                <a:latin typeface="Calibri"/>
              </a:rPr>
              <a:t>LLMs: chatbots vs API</a:t>
            </a:r>
            <a:endParaRPr sz="25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F09BE-69CF-3DA7-170B-A8868D679A41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CE427-DC12-1005-64F8-6EFF6A46F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955"/>
            <a:ext cx="5861785" cy="5174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21ACE7-C002-DEB2-3E18-2B2303A4B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923" y="3350885"/>
            <a:ext cx="5737051" cy="26651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8A339D-F4FC-3EB6-1E81-7C22EBB1C346}"/>
              </a:ext>
            </a:extLst>
          </p:cNvPr>
          <p:cNvSpPr txBox="1"/>
          <p:nvPr/>
        </p:nvSpPr>
        <p:spPr>
          <a:xfrm>
            <a:off x="6366037" y="795743"/>
            <a:ext cx="3372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 will be discussing how to incorporate </a:t>
            </a:r>
            <a:r>
              <a:rPr lang="en-US" b="1" dirty="0">
                <a:solidFill>
                  <a:srgbClr val="C00000"/>
                </a:solidFill>
              </a:rPr>
              <a:t>agentic design patterns </a:t>
            </a:r>
            <a:r>
              <a:rPr lang="en-US" dirty="0">
                <a:solidFill>
                  <a:srgbClr val="C00000"/>
                </a:solidFill>
              </a:rPr>
              <a:t>into your code. This is distinct from using </a:t>
            </a:r>
            <a:r>
              <a:rPr lang="en-US" dirty="0" err="1">
                <a:solidFill>
                  <a:srgbClr val="C00000"/>
                </a:solidFill>
              </a:rPr>
              <a:t>cowork</a:t>
            </a:r>
            <a:r>
              <a:rPr lang="en-US" dirty="0">
                <a:solidFill>
                  <a:srgbClr val="C00000"/>
                </a:solidFill>
              </a:rPr>
              <a:t> or other chat-based GUIs to automate tasks like writing code or generating reports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4" name="Picture 13" descr="Design Patterns: Elements of Reusable Object-Oriented Software: Erich Gamma, Richard Helm, Ralph Johnson, John Vlissides, Grady Booch: 9780201633610: Amazon.com: Books">
            <a:extLst>
              <a:ext uri="{FF2B5EF4-FFF2-40B4-BE49-F238E27FC236}">
                <a16:creationId xmlns:a16="http://schemas.microsoft.com/office/drawing/2014/main" id="{09F14A01-B6D4-6AB9-1230-AFA3B74CE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6116" y="387876"/>
            <a:ext cx="2091858" cy="280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76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5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6876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 dirty="0">
                <a:solidFill>
                  <a:srgbClr val="1A1A1A"/>
                </a:solidFill>
                <a:latin typeface="Calibri"/>
              </a:rPr>
              <a:t>1.  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Foundations.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 What an agent is. Tools, schemas, the loop. </a:t>
            </a:r>
            <a:endParaRPr lang="en-US" sz="1700" b="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700" dirty="0">
                <a:solidFill>
                  <a:srgbClr val="1A1A1A"/>
                </a:solidFill>
                <a:latin typeface="Calibri"/>
              </a:rPr>
              <a:t>2.  </a:t>
            </a:r>
            <a:r>
              <a:rPr lang="en-US" sz="1700" b="1" dirty="0">
                <a:solidFill>
                  <a:srgbClr val="1A1A1A"/>
                </a:solidFill>
                <a:latin typeface="Calibri"/>
              </a:rPr>
              <a:t>Logging into an API. </a:t>
            </a:r>
            <a:r>
              <a:rPr lang="en-US" sz="1700" dirty="0">
                <a:solidFill>
                  <a:srgbClr val="1A1A1A"/>
                </a:solidFill>
                <a:latin typeface="Calibri"/>
              </a:rPr>
              <a:t>Free Gemini key and accessing other APIs</a:t>
            </a:r>
            <a:endParaRPr sz="800" dirty="0"/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700" dirty="0">
                <a:solidFill>
                  <a:srgbClr val="1A1A1A"/>
                </a:solidFill>
                <a:latin typeface="Calibri"/>
              </a:rPr>
              <a:t>3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.  </a:t>
            </a:r>
            <a:r>
              <a:rPr lang="en-US" sz="1700" b="1" dirty="0">
                <a:solidFill>
                  <a:srgbClr val="1A1A1A"/>
                </a:solidFill>
                <a:latin typeface="Calibri"/>
              </a:rPr>
              <a:t>The 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framework zoo.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ReAct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, graphs (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LangGraph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), conversational multi-agent (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AutoGen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), MPC-style planning — and MCP. </a:t>
            </a:r>
            <a:endParaRPr sz="800" dirty="0"/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700" dirty="0">
                <a:solidFill>
                  <a:srgbClr val="1A1A1A"/>
                </a:solidFill>
                <a:latin typeface="Calibri"/>
              </a:rPr>
              <a:t>4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.  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Scientific computing as </a:t>
            </a:r>
            <a:r>
              <a:rPr lang="en-US" sz="1700" b="1" dirty="0">
                <a:solidFill>
                  <a:srgbClr val="1A1A1A"/>
                </a:solidFill>
                <a:latin typeface="Calibri"/>
              </a:rPr>
              <a:t>an exemplar</a:t>
            </a:r>
            <a:r>
              <a:rPr sz="1700" b="1" dirty="0">
                <a:solidFill>
                  <a:srgbClr val="1A1A1A"/>
                </a:solidFill>
                <a:latin typeface="Calibri"/>
              </a:rPr>
              <a:t>.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 </a:t>
            </a:r>
            <a:endParaRPr lang="en-US" sz="1700" b="0" dirty="0">
              <a:solidFill>
                <a:srgbClr val="1A1A1A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/>
              </a:rPr>
              <a:t>	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CAD → mesh → solve → </a:t>
            </a:r>
            <a:r>
              <a:rPr lang="en-US" sz="1700" dirty="0">
                <a:solidFill>
                  <a:srgbClr val="1A1A1A"/>
                </a:solidFill>
              </a:rPr>
              <a:t>postprocess → </a:t>
            </a:r>
            <a:r>
              <a:rPr lang="en-US" sz="1700" dirty="0" err="1">
                <a:solidFill>
                  <a:srgbClr val="1A1A1A"/>
                </a:solidFill>
              </a:rPr>
              <a:t>remesh</a:t>
            </a:r>
            <a:r>
              <a:rPr lang="en-US" sz="1700" dirty="0">
                <a:solidFill>
                  <a:srgbClr val="1A1A1A"/>
                </a:solidFill>
              </a:rPr>
              <a:t> driven purely by agents</a:t>
            </a:r>
          </a:p>
          <a:p>
            <a:r>
              <a:rPr sz="800" dirty="0"/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632704"/>
            <a:ext cx="11057839" cy="5257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lang="en-US" sz="1500" b="1" dirty="0">
                <a:solidFill>
                  <a:srgbClr val="1A1A1A"/>
                </a:solidFill>
                <a:latin typeface="Calibri"/>
              </a:rPr>
              <a:t>Primary takeaway</a:t>
            </a:r>
            <a:r>
              <a:rPr sz="1500" b="1" dirty="0">
                <a:solidFill>
                  <a:srgbClr val="1A1A1A"/>
                </a:solidFill>
                <a:latin typeface="Calibri"/>
              </a:rPr>
              <a:t>: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 for any given problem, </a:t>
            </a:r>
            <a:r>
              <a:rPr sz="1500" b="1" dirty="0">
                <a:solidFill>
                  <a:srgbClr val="AA1E1E"/>
                </a:solidFill>
                <a:latin typeface="Calibri"/>
              </a:rPr>
              <a:t>which agentic pattern should you reach for, and why?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21B15-815A-C0A0-B93C-93F594F84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72"/>
          <a:stretch>
            <a:fillRect/>
          </a:stretch>
        </p:blipFill>
        <p:spPr>
          <a:xfrm>
            <a:off x="1517905" y="3050489"/>
            <a:ext cx="9483798" cy="24130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5D5B8-ED43-AAD6-AF99-1B9F02247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3A672-05DC-AF9D-1BE2-9B77B38DD031}"/>
              </a:ext>
            </a:extLst>
          </p:cNvPr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426B1-9C23-CE4E-BB0A-2F230047B1B0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6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9510C-9E33-9904-D572-7844489E7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45" y="594360"/>
            <a:ext cx="6293173" cy="5378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7EDE5C-F35B-AC7E-8881-8D70546BF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87" y="1140598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7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What is an LLM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  <a:latin typeface="Calibri"/>
              </a:rPr>
              <a:t>Agent  =  LLM  +  tools  +  a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 dirty="0">
                <a:solidFill>
                  <a:srgbClr val="1A1A1A"/>
                </a:solidFill>
                <a:latin typeface="Calibri"/>
              </a:rPr>
              <a:t>A </a:t>
            </a:r>
            <a:r>
              <a:rPr lang="en-US" sz="1650" b="0" dirty="0">
                <a:solidFill>
                  <a:srgbClr val="1A1A1A"/>
                </a:solidFill>
                <a:latin typeface="Calibri"/>
              </a:rPr>
              <a:t>traditional</a:t>
            </a:r>
            <a:r>
              <a:rPr sz="1650" b="0" dirty="0">
                <a:solidFill>
                  <a:srgbClr val="1A1A1A"/>
                </a:solidFill>
                <a:latin typeface="Calibri"/>
              </a:rPr>
              <a:t> LLM takes text in, emits text out. </a:t>
            </a:r>
            <a:endParaRPr lang="en-US" sz="1650" b="0" dirty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 dirty="0">
                <a:solidFill>
                  <a:srgbClr val="1A1A1A"/>
                </a:solidFill>
                <a:latin typeface="Calibri"/>
              </a:rPr>
              <a:t>An </a:t>
            </a:r>
            <a:r>
              <a:rPr sz="1650" b="1" dirty="0">
                <a:solidFill>
                  <a:srgbClr val="AA1E1E"/>
                </a:solidFill>
                <a:latin typeface="Calibri"/>
              </a:rPr>
              <a:t>agent</a:t>
            </a:r>
            <a:r>
              <a:rPr sz="1650" b="0" dirty="0">
                <a:solidFill>
                  <a:srgbClr val="1A1A1A"/>
                </a:solidFill>
                <a:latin typeface="Calibri"/>
              </a:rPr>
              <a:t> is an LLM running in a loop with access to </a:t>
            </a:r>
            <a:r>
              <a:rPr sz="1650" b="1" dirty="0">
                <a:solidFill>
                  <a:srgbClr val="AA1E1E"/>
                </a:solidFill>
                <a:latin typeface="Calibri"/>
              </a:rPr>
              <a:t>tools</a:t>
            </a:r>
            <a:r>
              <a:rPr sz="1650" b="0" dirty="0">
                <a:solidFill>
                  <a:srgbClr val="1A1A1A"/>
                </a:solidFill>
                <a:latin typeface="Calibri"/>
              </a:rPr>
              <a:t>: ordinary Python functions it can ask us to run on its behalf.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 dirty="0">
                <a:solidFill>
                  <a:srgbClr val="1A1A1A"/>
                </a:solidFill>
                <a:latin typeface="Calibri"/>
              </a:rPr>
              <a:t>Each turn, the model reads the running conversation and decides to either</a:t>
            </a:r>
          </a:p>
          <a:p>
            <a:pPr marL="603504" indent="-219456">
              <a:lnSpc>
                <a:spcPct val="100000"/>
              </a:lnSpc>
              <a:spcAft>
                <a:spcPts val="900"/>
              </a:spcAft>
              <a:buClr>
                <a:srgbClr val="6E6E6E"/>
              </a:buClr>
              <a:buFont typeface="Arial"/>
              <a:buChar char="–"/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emit a final text answer, or</a:t>
            </a:r>
          </a:p>
          <a:p>
            <a:pPr marL="603504" indent="-219456">
              <a:lnSpc>
                <a:spcPct val="100000"/>
              </a:lnSpc>
              <a:spcAft>
                <a:spcPts val="900"/>
              </a:spcAft>
              <a:buClr>
                <a:srgbClr val="6E6E6E"/>
              </a:buClr>
              <a:buFont typeface="Arial"/>
              <a:buChar char="–"/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call a tool with structured arguments.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 dirty="0">
                <a:solidFill>
                  <a:srgbClr val="1A1A1A"/>
                </a:solidFill>
                <a:latin typeface="Calibri"/>
              </a:rPr>
              <a:t>When it calls a tool, </a:t>
            </a:r>
            <a:r>
              <a:rPr sz="1650" b="0" i="1" dirty="0">
                <a:solidFill>
                  <a:srgbClr val="1A1A1A"/>
                </a:solidFill>
                <a:latin typeface="Calibri"/>
              </a:rPr>
              <a:t>we</a:t>
            </a:r>
            <a:r>
              <a:rPr sz="1650" b="0" dirty="0">
                <a:solidFill>
                  <a:srgbClr val="1A1A1A"/>
                </a:solidFill>
                <a:latin typeface="Calibri"/>
              </a:rPr>
              <a:t> run the function and feed the result back as the next turn.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 err="1">
                <a:solidFill>
                  <a:srgbClr val="1A1A1A"/>
                </a:solidFill>
                <a:latin typeface="Calibri"/>
              </a:rPr>
              <a:t>ReAct</a:t>
            </a:r>
            <a:r>
              <a:rPr lang="en-US" sz="2500" b="1" dirty="0">
                <a:solidFill>
                  <a:srgbClr val="1A1A1A"/>
                </a:solidFill>
                <a:latin typeface="Calibri"/>
              </a:rPr>
              <a:t> as the simplest</a:t>
            </a:r>
            <a:endParaRPr sz="25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57400" y="2331720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dirty="0">
                <a:solidFill>
                  <a:srgbClr val="1A1A1A"/>
                </a:solidFill>
                <a:latin typeface="Calibri"/>
              </a:rPr>
              <a:t>LLM</a:t>
            </a:r>
          </a:p>
          <a:p>
            <a:pPr algn="ctr"/>
            <a:r>
              <a:rPr sz="1150" b="0" dirty="0">
                <a:solidFill>
                  <a:srgbClr val="6E6E6E"/>
                </a:solidFill>
                <a:latin typeface="Calibri"/>
              </a:rPr>
              <a:t>reads messages,</a:t>
            </a:r>
          </a:p>
          <a:p>
            <a:pPr algn="ctr"/>
            <a:r>
              <a:rPr sz="1150" b="0" dirty="0">
                <a:solidFill>
                  <a:srgbClr val="6E6E6E"/>
                </a:solidFill>
                <a:latin typeface="Calibri"/>
              </a:rPr>
              <a:t>emits text </a:t>
            </a:r>
            <a:r>
              <a:rPr sz="1150" b="1" dirty="0">
                <a:solidFill>
                  <a:srgbClr val="6E6E6E"/>
                </a:solidFill>
                <a:latin typeface="Calibri"/>
              </a:rPr>
              <a:t>or</a:t>
            </a:r>
            <a:r>
              <a:rPr sz="1150" b="0" dirty="0">
                <a:solidFill>
                  <a:srgbClr val="6E6E6E"/>
                </a:solidFill>
                <a:latin typeface="Calibri"/>
              </a:rPr>
              <a:t> tool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2331720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Tools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Python functions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we control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74920" y="2606040"/>
            <a:ext cx="201168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074920" y="3291840"/>
            <a:ext cx="201168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92040" y="19933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function_call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(name, args)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4015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result (dict)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appended as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60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6E6E6E"/>
                </a:solidFill>
                <a:latin typeface="Calibri"/>
              </a:rPr>
              <a:t>when the model stops calling tools, it emits a final text answer and the loop exits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This is </a:t>
            </a:r>
            <a:r>
              <a:rPr sz="1600" b="1">
                <a:solidFill>
                  <a:srgbClr val="AA1E1E"/>
                </a:solidFill>
                <a:latin typeface="Calibri"/>
              </a:rPr>
              <a:t>ReAct</a:t>
            </a:r>
            <a:r>
              <a:rPr sz="1600" b="0">
                <a:solidFill>
                  <a:srgbClr val="1A1A1A"/>
                </a:solidFill>
                <a:latin typeface="Calibri"/>
              </a:rPr>
              <a:t> (Reason + Act), Yao et al. 2022 — the simplest agent there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05D9-56D0-5604-B236-C857E3FA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8B4DCF-16F0-D9DF-CFF7-2B70E3B52087}"/>
              </a:ext>
            </a:extLst>
          </p:cNvPr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1A1A1A"/>
                </a:solidFill>
                <a:latin typeface="Calibri"/>
              </a:rPr>
              <a:t>“How many R’s are in strawberry”</a:t>
            </a:r>
            <a:endParaRPr sz="25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69EBD-76D9-321B-EA27-B3FCDC9A312F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9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12" name="Picture 11" descr="How many R's are in the word strawberry?">
            <a:extLst>
              <a:ext uri="{FF2B5EF4-FFF2-40B4-BE49-F238E27FC236}">
                <a16:creationId xmlns:a16="http://schemas.microsoft.com/office/drawing/2014/main" id="{4C0C14CF-CBE2-5113-748A-06238E55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747522"/>
            <a:ext cx="3524250" cy="5143500"/>
          </a:xfrm>
          <a:prstGeom prst="rect">
            <a:avLst/>
          </a:prstGeom>
        </p:spPr>
      </p:pic>
      <p:pic>
        <p:nvPicPr>
          <p:cNvPr id="13" name="Picture 12" descr="Incorrect count of 'r' characters in the word &quot;strawberry“ - Use cases and examples - OpenAI Developer Community">
            <a:extLst>
              <a:ext uri="{FF2B5EF4-FFF2-40B4-BE49-F238E27FC236}">
                <a16:creationId xmlns:a16="http://schemas.microsoft.com/office/drawing/2014/main" id="{9C203986-0261-605B-F4F0-403867AE2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512" y="747522"/>
            <a:ext cx="2162175" cy="2114550"/>
          </a:xfrm>
          <a:prstGeom prst="rect">
            <a:avLst/>
          </a:prstGeom>
        </p:spPr>
      </p:pic>
      <p:pic>
        <p:nvPicPr>
          <p:cNvPr id="14" name="Picture 13" descr="How many R's are in strawberry?">
            <a:extLst>
              <a:ext uri="{FF2B5EF4-FFF2-40B4-BE49-F238E27FC236}">
                <a16:creationId xmlns:a16="http://schemas.microsoft.com/office/drawing/2014/main" id="{E57136D9-0937-051E-0FDD-498C84763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101" y="2950553"/>
            <a:ext cx="1888899" cy="3777798"/>
          </a:xfrm>
          <a:prstGeom prst="rect">
            <a:avLst/>
          </a:prstGeom>
        </p:spPr>
      </p:pic>
      <p:pic>
        <p:nvPicPr>
          <p:cNvPr id="15" name="Picture 14" descr="AI vs. 'Strawberry': Which AI Platforms Can't Count the 'R's Correctly?">
            <a:extLst>
              <a:ext uri="{FF2B5EF4-FFF2-40B4-BE49-F238E27FC236}">
                <a16:creationId xmlns:a16="http://schemas.microsoft.com/office/drawing/2014/main" id="{0CF650C1-95C6-70F2-8B32-016DCC2BA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412" y="466680"/>
            <a:ext cx="56864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5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1A1A1A"/>
                </a:solidFill>
                <a:latin typeface="Calibri"/>
              </a:rPr>
              <a:t>Tool syntax and specification</a:t>
            </a:r>
            <a:endParaRPr sz="25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10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Two 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pieces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: a Python function, and a JSON-schema description of its signature that you hand to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5394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E6E6E"/>
                </a:solidFill>
                <a:latin typeface="Calibri"/>
              </a:rPr>
              <a:t>Python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10512"/>
            <a:ext cx="5394960" cy="10154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calculator(op, a, b):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ops = {</a:t>
            </a:r>
            <a:r>
              <a:rPr sz="1150" i="0">
                <a:solidFill>
                  <a:srgbClr val="8C3C14"/>
                </a:solidFill>
                <a:latin typeface="Consolas"/>
              </a:rPr>
              <a:t>"add"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+ b, </a:t>
            </a:r>
            <a:r>
              <a:rPr sz="1150" i="0">
                <a:solidFill>
                  <a:srgbClr val="8C3C14"/>
                </a:solidFill>
                <a:latin typeface="Consolas"/>
              </a:rPr>
              <a:t>"sub"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- b,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 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"mul"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* b, </a:t>
            </a:r>
            <a:r>
              <a:rPr sz="1150" i="0">
                <a:solidFill>
                  <a:srgbClr val="8C3C14"/>
                </a:solidFill>
                <a:latin typeface="Consolas"/>
              </a:rPr>
              <a:t>"div"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/ b}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{</a:t>
            </a:r>
            <a:r>
              <a:rPr sz="1150" i="0">
                <a:solidFill>
                  <a:srgbClr val="8C3C14"/>
                </a:solidFill>
                <a:latin typeface="Consolas"/>
              </a:rPr>
              <a:t>"result"</a:t>
            </a:r>
            <a:r>
              <a:rPr sz="1150" i="0">
                <a:solidFill>
                  <a:srgbClr val="1A1A1A"/>
                </a:solidFill>
                <a:latin typeface="Consolas"/>
              </a:rPr>
              <a:t>: ops[op]}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536192"/>
            <a:ext cx="5394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E6E6E"/>
                </a:solidFill>
                <a:latin typeface="Calibri"/>
              </a:rPr>
              <a:t>JSON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10512"/>
            <a:ext cx="5394960" cy="215468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{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"name"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"calculator"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"description"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</a:t>
            </a:r>
            <a:r>
              <a:rPr lang="en-US" sz="1150" i="0" dirty="0">
                <a:solidFill>
                  <a:srgbClr val="8C3C14"/>
                </a:solidFill>
                <a:latin typeface="Consolas"/>
              </a:rPr>
              <a:t>Evaluate a single arithmetic operation</a:t>
            </a:r>
            <a:endParaRPr sz="1150" i="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"parameters"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{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 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"object"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 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"properties"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{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   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"op"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{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"string"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          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dirty="0" err="1">
                <a:solidFill>
                  <a:srgbClr val="8C3C14"/>
                </a:solidFill>
                <a:latin typeface="Consolas"/>
              </a:rPr>
              <a:t>enum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[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"add"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,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"sub"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,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dirty="0" err="1">
                <a:solidFill>
                  <a:srgbClr val="8C3C14"/>
                </a:solidFill>
                <a:latin typeface="Consolas"/>
              </a:rPr>
              <a:t>mul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,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"div"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]},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   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"a"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{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"number"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},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   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"b"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{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"number"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}},</a:t>
            </a:r>
          </a:p>
          <a:p>
            <a:pPr algn="l">
              <a:lnSpc>
                <a:spcPct val="106000"/>
              </a:lnSpc>
            </a:pPr>
            <a:r>
              <a:rPr sz="1150" i="0" dirty="0">
                <a:solidFill>
                  <a:srgbClr val="1A1A1A"/>
                </a:solidFill>
                <a:latin typeface="Consolas"/>
              </a:rPr>
              <a:t>   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"required"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: [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dirty="0" err="1">
                <a:solidFill>
                  <a:srgbClr val="8C3C14"/>
                </a:solidFill>
                <a:latin typeface="Consolas"/>
              </a:rPr>
              <a:t>op"</a:t>
            </a:r>
            <a:r>
              <a:rPr sz="1150" i="0" dirty="0" err="1">
                <a:solidFill>
                  <a:srgbClr val="1A1A1A"/>
                </a:solidFill>
                <a:latin typeface="Consolas"/>
              </a:rPr>
              <a:t>,</a:t>
            </a:r>
            <a:r>
              <a:rPr sz="1150" i="0" dirty="0" err="1">
                <a:solidFill>
                  <a:srgbClr val="8C3C14"/>
                </a:solidFill>
                <a:latin typeface="Consolas"/>
              </a:rPr>
              <a:t>"a"</a:t>
            </a:r>
            <a:r>
              <a:rPr sz="1150" i="0" dirty="0" err="1">
                <a:solidFill>
                  <a:srgbClr val="1A1A1A"/>
                </a:solidFill>
                <a:latin typeface="Consolas"/>
              </a:rPr>
              <a:t>,</a:t>
            </a:r>
            <a:r>
              <a:rPr sz="1150" i="0" dirty="0" err="1">
                <a:solidFill>
                  <a:srgbClr val="8C3C14"/>
                </a:solidFill>
                <a:latin typeface="Consolas"/>
              </a:rPr>
              <a:t>"b</a:t>
            </a:r>
            <a:r>
              <a:rPr sz="1150" i="0" dirty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dirty="0">
                <a:solidFill>
                  <a:srgbClr val="1A1A1A"/>
                </a:solidFill>
                <a:latin typeface="Consolas"/>
              </a:rPr>
              <a:t>]}}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1"/>
            <a:ext cx="11057839" cy="977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250" b="0" dirty="0">
                <a:solidFill>
                  <a:srgbClr val="1A1A1A"/>
                </a:solidFill>
                <a:latin typeface="Consolas"/>
              </a:rPr>
              <a:t>name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250" b="0" dirty="0">
                <a:solidFill>
                  <a:srgbClr val="1A1A1A"/>
                </a:solidFill>
                <a:latin typeface="Consolas"/>
              </a:rPr>
              <a:t>description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 — decide whether the model picks </a:t>
            </a:r>
            <a:r>
              <a:rPr sz="1400" b="0" i="1" dirty="0">
                <a:solidFill>
                  <a:srgbClr val="1A1A1A"/>
                </a:solidFill>
                <a:latin typeface="Calibri"/>
              </a:rPr>
              <a:t>this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 tool over the others. This is prompt engineering; </a:t>
            </a:r>
            <a:r>
              <a:rPr lang="en-US" sz="1400" b="0" dirty="0">
                <a:solidFill>
                  <a:srgbClr val="1A1A1A"/>
                </a:solidFill>
                <a:latin typeface="Calibri"/>
              </a:rPr>
              <a:t>use this to provide the model with plain English context to help it understand how the tool is meant to function.</a:t>
            </a:r>
            <a:endParaRPr sz="1400" b="0" dirty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250" b="0" dirty="0">
                <a:solidFill>
                  <a:srgbClr val="1A1A1A"/>
                </a:solidFill>
                <a:latin typeface="Consolas"/>
              </a:rPr>
              <a:t>properties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 — the typed argument list. </a:t>
            </a:r>
            <a:r>
              <a:rPr sz="1250" b="0" dirty="0" err="1">
                <a:solidFill>
                  <a:srgbClr val="1A1A1A"/>
                </a:solidFill>
                <a:latin typeface="Consolas"/>
              </a:rPr>
              <a:t>enum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 restricts a string to a fixed set. Constrain aggressively: </a:t>
            </a:r>
            <a:r>
              <a:rPr lang="en-US" sz="1400" b="0" dirty="0">
                <a:solidFill>
                  <a:srgbClr val="1A1A1A"/>
                </a:solidFill>
                <a:latin typeface="Calibri"/>
              </a:rPr>
              <a:t>by forcing the model to only process inputs of a given type, you are keeping the Agent from doing something unexpected. For example – the above won’t attempt to add a string to a number</a:t>
            </a:r>
            <a:endParaRPr sz="1400"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The round 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11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Each turn, the model emits either plain text (final answer) or a structured tool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1.</a:t>
            </a:r>
            <a:r>
              <a:rPr sz="1450" b="0">
                <a:solidFill>
                  <a:srgbClr val="1A1A1A"/>
                </a:solidFill>
                <a:latin typeface="Calibri"/>
              </a:rPr>
              <a:t>  The reply contains a </a:t>
            </a:r>
            <a:r>
              <a:rPr sz="1300" b="0">
                <a:solidFill>
                  <a:srgbClr val="1A1A1A"/>
                </a:solidFill>
                <a:latin typeface="Consolas"/>
              </a:rPr>
              <a:t>function_call</a:t>
            </a:r>
            <a:r>
              <a:rPr sz="1450" b="0">
                <a:solidFill>
                  <a:srgbClr val="1A1A1A"/>
                </a:solidFill>
                <a:latin typeface="Calibri"/>
              </a:rPr>
              <a:t> part: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1057839" cy="8503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response.candidates[0].content.parts[0].function_call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.name = </a:t>
            </a:r>
            <a:r>
              <a:rPr sz="1200" i="0">
                <a:solidFill>
                  <a:srgbClr val="8C3C14"/>
                </a:solidFill>
                <a:latin typeface="Consolas"/>
              </a:rPr>
              <a:t>"calculator"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.args = {</a:t>
            </a:r>
            <a:r>
              <a:rPr sz="1200" i="0">
                <a:solidFill>
                  <a:srgbClr val="8C3C14"/>
                </a:solidFill>
                <a:latin typeface="Consolas"/>
              </a:rPr>
              <a:t>"op"</a:t>
            </a:r>
            <a:r>
              <a:rPr sz="1200" i="0">
                <a:solidFill>
                  <a:srgbClr val="1A1A1A"/>
                </a:solidFill>
                <a:latin typeface="Consolas"/>
              </a:rPr>
              <a:t>: </a:t>
            </a:r>
            <a:r>
              <a:rPr sz="1200" i="0">
                <a:solidFill>
                  <a:srgbClr val="8C3C14"/>
                </a:solidFill>
                <a:latin typeface="Consolas"/>
              </a:rPr>
              <a:t>"mul"</a:t>
            </a:r>
            <a:r>
              <a:rPr sz="1200" i="0">
                <a:solidFill>
                  <a:srgbClr val="1A1A1A"/>
                </a:solidFill>
                <a:latin typeface="Consolas"/>
              </a:rPr>
              <a:t>, </a:t>
            </a:r>
            <a:r>
              <a:rPr sz="1200" i="0">
                <a:solidFill>
                  <a:srgbClr val="8C3C14"/>
                </a:solidFill>
                <a:latin typeface="Consolas"/>
              </a:rPr>
              <a:t>"a"</a:t>
            </a:r>
            <a:r>
              <a:rPr sz="1200" i="0">
                <a:solidFill>
                  <a:srgbClr val="1A1A1A"/>
                </a:solidFill>
                <a:latin typeface="Consolas"/>
              </a:rPr>
              <a:t>: 13, </a:t>
            </a:r>
            <a:r>
              <a:rPr sz="1200" i="0">
                <a:solidFill>
                  <a:srgbClr val="8C3C14"/>
                </a:solidFill>
                <a:latin typeface="Consolas"/>
              </a:rPr>
              <a:t>"b"</a:t>
            </a:r>
            <a:r>
              <a:rPr sz="1200" i="0">
                <a:solidFill>
                  <a:srgbClr val="1A1A1A"/>
                </a:solidFill>
                <a:latin typeface="Consolas"/>
              </a:rPr>
              <a:t>: 47}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2.</a:t>
            </a:r>
            <a:r>
              <a:rPr sz="1450" b="0">
                <a:solidFill>
                  <a:srgbClr val="1A1A1A"/>
                </a:solidFill>
                <a:latin typeface="Calibri"/>
              </a:rPr>
              <a:t>  We dispatch by name and run the Python function: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46704"/>
            <a:ext cx="11057839" cy="45415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result = tool_fns[name](**args)     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-&gt; {"result": 611}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3.</a:t>
            </a:r>
            <a:r>
              <a:rPr sz="1450" b="0">
                <a:solidFill>
                  <a:srgbClr val="1A1A1A"/>
                </a:solidFill>
                <a:latin typeface="Calibri"/>
              </a:rPr>
              <a:t>  We send the result back as a </a:t>
            </a:r>
            <a:r>
              <a:rPr sz="1300" b="0">
                <a:solidFill>
                  <a:srgbClr val="1A1A1A"/>
                </a:solidFill>
                <a:latin typeface="Consolas"/>
              </a:rPr>
              <a:t>function_response</a:t>
            </a:r>
            <a:r>
              <a:rPr sz="1450" b="0">
                <a:solidFill>
                  <a:srgbClr val="1A1A1A"/>
                </a:solidFill>
                <a:latin typeface="Calibri"/>
              </a:rPr>
              <a:t> on the next turn: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89120"/>
            <a:ext cx="11057839" cy="45415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Part.from_function_response(name=</a:t>
            </a:r>
            <a:r>
              <a:rPr sz="1200" i="0">
                <a:solidFill>
                  <a:srgbClr val="8C3C14"/>
                </a:solidFill>
                <a:latin typeface="Consolas"/>
              </a:rPr>
              <a:t>"calculator"</a:t>
            </a:r>
            <a:r>
              <a:rPr sz="1200" i="0">
                <a:solidFill>
                  <a:srgbClr val="1A1A1A"/>
                </a:solidFill>
                <a:latin typeface="Consolas"/>
              </a:rPr>
              <a:t>, response={</a:t>
            </a:r>
            <a:r>
              <a:rPr sz="1200" i="0">
                <a:solidFill>
                  <a:srgbClr val="8C3C14"/>
                </a:solidFill>
                <a:latin typeface="Consolas"/>
              </a:rPr>
              <a:t>"result"</a:t>
            </a:r>
            <a:r>
              <a:rPr sz="1200" i="0">
                <a:solidFill>
                  <a:srgbClr val="1A1A1A"/>
                </a:solidFill>
                <a:latin typeface="Consolas"/>
              </a:rPr>
              <a:t>: 611})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The model then sees its own call, the result, and decides whether to call another tool or stop.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CDD43-3CAC-F1F9-2D9D-23058302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30F10-10DE-280C-F2F6-A0C0BE15B9CA}"/>
              </a:ext>
            </a:extLst>
          </p:cNvPr>
          <p:cNvSpPr txBox="1"/>
          <p:nvPr/>
        </p:nvSpPr>
        <p:spPr>
          <a:xfrm>
            <a:off x="566928" y="2651760"/>
            <a:ext cx="11057839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rgbClr val="1A1A1A"/>
                </a:solidFill>
                <a:latin typeface="Calibri"/>
              </a:rPr>
              <a:t>Setting up your API</a:t>
            </a:r>
            <a:endParaRPr sz="3800" b="1" dirty="0">
              <a:solidFill>
                <a:srgbClr val="1A1A1A"/>
              </a:solidFill>
              <a:latin typeface="Calibri"/>
            </a:endParaRPr>
          </a:p>
          <a:p>
            <a:pPr algn="ctr">
              <a:spcBef>
                <a:spcPts val="1000"/>
              </a:spcBef>
            </a:pPr>
            <a:r>
              <a:rPr lang="en-US" sz="1700" b="0" dirty="0">
                <a:solidFill>
                  <a:srgbClr val="6E6E6E"/>
                </a:solidFill>
                <a:latin typeface="Calibri"/>
              </a:rPr>
              <a:t>Free Gemini API key</a:t>
            </a:r>
            <a:endParaRPr sz="1700" b="0" dirty="0">
              <a:solidFill>
                <a:srgbClr val="6E6E6E"/>
              </a:solidFill>
              <a:latin typeface="Calibri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BD98D3B-2DE1-68AC-68CC-75A72CE0727F}"/>
              </a:ext>
            </a:extLst>
          </p:cNvPr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081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Setup: getting a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13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392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1. 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Free, no credit card.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 Google AI Studio: aistudio.google.com/</a:t>
            </a:r>
            <a:r>
              <a:rPr sz="1550" b="0" dirty="0" err="1">
                <a:solidFill>
                  <a:srgbClr val="1A1A1A"/>
                </a:solidFill>
                <a:latin typeface="Calibri"/>
              </a:rPr>
              <a:t>apikey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. Sign in with any Google account. Use a project where billing has </a:t>
            </a:r>
            <a:r>
              <a:rPr sz="1550" b="0" i="1" dirty="0">
                <a:solidFill>
                  <a:srgbClr val="1A1A1A"/>
                </a:solidFill>
                <a:latin typeface="Calibri"/>
              </a:rPr>
              <a:t>never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been enabled</a:t>
            </a:r>
            <a:r>
              <a:rPr lang="en-US" sz="1550" b="0" dirty="0">
                <a:solidFill>
                  <a:srgbClr val="1A1A1A"/>
                </a:solidFill>
                <a:latin typeface="Calibri"/>
              </a:rPr>
              <a:t> to make sure you are not charged accidentally.</a:t>
            </a:r>
            <a:endParaRPr sz="1550" b="0" dirty="0">
              <a:solidFill>
                <a:srgbClr val="1A1A1A"/>
              </a:solidFill>
              <a:latin typeface="Calibri"/>
            </a:endParaRPr>
          </a:p>
          <a:p>
            <a:r>
              <a:rPr sz="700" dirty="0"/>
              <a:t>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2. 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Bring your own.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 Anthropic (console.anthropic.com) or OpenAI (platform.openai.com/</a:t>
            </a:r>
            <a:r>
              <a:rPr sz="1550" b="0" dirty="0" err="1">
                <a:solidFill>
                  <a:srgbClr val="1A1A1A"/>
                </a:solidFill>
                <a:latin typeface="Calibri"/>
              </a:rPr>
              <a:t>api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-keys) both work.</a:t>
            </a:r>
          </a:p>
          <a:p>
            <a:r>
              <a:rPr sz="700" dirty="0"/>
              <a:t>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3.  In </a:t>
            </a:r>
            <a:r>
              <a:rPr sz="1550" b="0" dirty="0" err="1">
                <a:solidFill>
                  <a:srgbClr val="1A1A1A"/>
                </a:solidFill>
                <a:latin typeface="Calibri"/>
              </a:rPr>
              <a:t>Colab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: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Secrets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panel (key icon, left sidebar), add </a:t>
            </a:r>
            <a:r>
              <a:rPr sz="1400" b="0" dirty="0">
                <a:solidFill>
                  <a:srgbClr val="1A1A1A"/>
                </a:solidFill>
                <a:latin typeface="Consolas"/>
              </a:rPr>
              <a:t>GEMINI_API_KEY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. </a:t>
            </a:r>
            <a:endParaRPr sz="1400" b="0" dirty="0">
              <a:solidFill>
                <a:srgbClr val="1A1A1A"/>
              </a:solidFill>
              <a:latin typeface="Consolas"/>
            </a:endParaRPr>
          </a:p>
          <a:p>
            <a:r>
              <a:rPr sz="700" dirty="0"/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5" y="2471681"/>
            <a:ext cx="11057839" cy="5257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Never paste a key into a notebook cell.</a:t>
            </a:r>
            <a:r>
              <a:rPr sz="1300" b="0">
                <a:solidFill>
                  <a:srgbClr val="1A1A1A"/>
                </a:solidFill>
                <a:latin typeface="Calibri"/>
              </a:rPr>
              <a:t>  It ends up in the </a:t>
            </a:r>
            <a:r>
              <a:rPr sz="1150" b="0">
                <a:solidFill>
                  <a:srgbClr val="1A1A1A"/>
                </a:solidFill>
                <a:latin typeface="Consolas"/>
              </a:rPr>
              <a:t>.ipynb</a:t>
            </a:r>
            <a:r>
              <a:rPr sz="1300" b="0">
                <a:solidFill>
                  <a:srgbClr val="1A1A1A"/>
                </a:solidFill>
                <a:latin typeface="Calibri"/>
              </a:rPr>
              <a:t> JSON, in your shell history, and in git. Use the secrets panel or an environment variable.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1728C-AE01-C627-9F89-AC515900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46" y="3749485"/>
            <a:ext cx="5468486" cy="2425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8BC927-6F3D-0841-BE77-603F25E5F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344" y="3325778"/>
            <a:ext cx="5930710" cy="34682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EA6D-7DEC-61E2-DD9E-BBCB8F2A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BAD55-561E-F547-C279-9E0B3C39F06E}"/>
              </a:ext>
            </a:extLst>
          </p:cNvPr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Setup: getting a 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8D297-E29D-28B2-0A8F-7CB37096669D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35AC4-FDEF-C775-65AE-4DEC85B7C6C8}"/>
              </a:ext>
            </a:extLst>
          </p:cNvPr>
          <p:cNvSpPr txBox="1"/>
          <p:nvPr/>
        </p:nvSpPr>
        <p:spPr>
          <a:xfrm>
            <a:off x="566928" y="1078992"/>
            <a:ext cx="11057839" cy="1392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1. 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Free, no credit card.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 Google AI Studio: aistudio.google.com/</a:t>
            </a:r>
            <a:r>
              <a:rPr sz="1550" b="0" dirty="0" err="1">
                <a:solidFill>
                  <a:srgbClr val="1A1A1A"/>
                </a:solidFill>
                <a:latin typeface="Calibri"/>
              </a:rPr>
              <a:t>apikey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. Sign in with any Google account. Use a project where billing has </a:t>
            </a:r>
            <a:r>
              <a:rPr sz="1550" b="0" i="1" dirty="0">
                <a:solidFill>
                  <a:srgbClr val="1A1A1A"/>
                </a:solidFill>
                <a:latin typeface="Calibri"/>
              </a:rPr>
              <a:t>never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been enabled</a:t>
            </a:r>
            <a:r>
              <a:rPr lang="en-US" sz="1550" b="0" dirty="0">
                <a:solidFill>
                  <a:srgbClr val="1A1A1A"/>
                </a:solidFill>
                <a:latin typeface="Calibri"/>
              </a:rPr>
              <a:t> to make sure you are not charged accidentally.</a:t>
            </a:r>
            <a:endParaRPr sz="1550" b="0" dirty="0">
              <a:solidFill>
                <a:srgbClr val="1A1A1A"/>
              </a:solidFill>
              <a:latin typeface="Calibri"/>
            </a:endParaRPr>
          </a:p>
          <a:p>
            <a:r>
              <a:rPr sz="700" dirty="0"/>
              <a:t>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2. 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Bring your own.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 Anthropic (console.anthropic.com) or OpenAI (platform.openai.com/</a:t>
            </a:r>
            <a:r>
              <a:rPr sz="1550" b="0" dirty="0" err="1">
                <a:solidFill>
                  <a:srgbClr val="1A1A1A"/>
                </a:solidFill>
                <a:latin typeface="Calibri"/>
              </a:rPr>
              <a:t>api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-keys) both work.</a:t>
            </a:r>
          </a:p>
          <a:p>
            <a:r>
              <a:rPr sz="700" dirty="0"/>
              <a:t>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3.  In </a:t>
            </a:r>
            <a:r>
              <a:rPr sz="1550" b="0" dirty="0" err="1">
                <a:solidFill>
                  <a:srgbClr val="1A1A1A"/>
                </a:solidFill>
                <a:latin typeface="Calibri"/>
              </a:rPr>
              <a:t>Colab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: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Secrets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panel (key icon, left sidebar), add </a:t>
            </a:r>
            <a:r>
              <a:rPr sz="1400" b="0" dirty="0">
                <a:solidFill>
                  <a:srgbClr val="1A1A1A"/>
                </a:solidFill>
                <a:latin typeface="Consolas"/>
              </a:rPr>
              <a:t>GEMINI_API_KEY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. </a:t>
            </a:r>
            <a:endParaRPr sz="1400" b="0" dirty="0">
              <a:solidFill>
                <a:srgbClr val="1A1A1A"/>
              </a:solidFill>
              <a:latin typeface="Consolas"/>
            </a:endParaRPr>
          </a:p>
          <a:p>
            <a:r>
              <a:rPr sz="700" dirty="0"/>
              <a:t>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396EAF-DCC9-FDC0-C425-9A033B9340A0}"/>
              </a:ext>
            </a:extLst>
          </p:cNvPr>
          <p:cNvSpPr/>
          <p:nvPr/>
        </p:nvSpPr>
        <p:spPr>
          <a:xfrm>
            <a:off x="676655" y="2471681"/>
            <a:ext cx="11057839" cy="5257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Never paste a key into a notebook cell.</a:t>
            </a:r>
            <a:r>
              <a:rPr sz="1300" b="0">
                <a:solidFill>
                  <a:srgbClr val="1A1A1A"/>
                </a:solidFill>
                <a:latin typeface="Calibri"/>
              </a:rPr>
              <a:t>  It ends up in the </a:t>
            </a:r>
            <a:r>
              <a:rPr sz="1150" b="0">
                <a:solidFill>
                  <a:srgbClr val="1A1A1A"/>
                </a:solidFill>
                <a:latin typeface="Consolas"/>
              </a:rPr>
              <a:t>.ipynb</a:t>
            </a:r>
            <a:r>
              <a:rPr sz="1300" b="0">
                <a:solidFill>
                  <a:srgbClr val="1A1A1A"/>
                </a:solidFill>
                <a:latin typeface="Calibri"/>
              </a:rPr>
              <a:t> JSON, in your shell history, and in git. Use the secrets panel or an environment variable.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AC977-0D48-B141-C97D-40FF861F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46" y="3749485"/>
            <a:ext cx="5468486" cy="2425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00472C-B851-88EC-D4BF-F9264CAD3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10" y="24327"/>
            <a:ext cx="11644108" cy="680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48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The framework zoo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ReAct  ·  LangGraph  ·  AutoGen  ·  MPC  ·  MCP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Why not just ReAct?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16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3003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 dirty="0" err="1">
                <a:solidFill>
                  <a:srgbClr val="1A1A1A"/>
                </a:solidFill>
                <a:latin typeface="Calibri"/>
              </a:rPr>
              <a:t>ReAct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is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greedy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. At each step the model sees the history and picks one action. That is exactly right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the tool </a:t>
            </a:r>
            <a:r>
              <a:rPr lang="en-US" sz="1550" b="0" dirty="0">
                <a:solidFill>
                  <a:srgbClr val="1A1A1A"/>
                </a:solidFill>
                <a:latin typeface="Calibri"/>
              </a:rPr>
              <a:t>interface is lightweight,</a:t>
            </a:r>
            <a:endParaRPr sz="1550" b="0" dirty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mistakes are cheap and recoverable, and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you cannot specify the procedure in advance.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1546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It starts to hurt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you need a </a:t>
            </a:r>
            <a:r>
              <a:rPr sz="1550" b="1">
                <a:solidFill>
                  <a:srgbClr val="AA1E1E"/>
                </a:solidFill>
                <a:latin typeface="Calibri"/>
              </a:rPr>
              <a:t>guarantee</a:t>
            </a:r>
            <a:r>
              <a:rPr sz="1550" b="0">
                <a:solidFill>
                  <a:srgbClr val="1A1A1A"/>
                </a:solidFill>
                <a:latin typeface="Calibri"/>
              </a:rPr>
              <a:t> that step B always follows step A (audit, compliance, “always verify before reporting”),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genuinely </a:t>
            </a:r>
            <a:r>
              <a:rPr sz="1550" b="1">
                <a:solidFill>
                  <a:srgbClr val="AA1E1E"/>
                </a:solidFill>
                <a:latin typeface="Calibri"/>
              </a:rPr>
              <a:t>different expertise</a:t>
            </a:r>
            <a:r>
              <a:rPr sz="1550" b="0">
                <a:solidFill>
                  <a:srgbClr val="1A1A1A"/>
                </a:solidFill>
                <a:latin typeface="Calibri"/>
              </a:rPr>
              <a:t> needs different system prompts and different tools,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a wrong action is </a:t>
            </a:r>
            <a:r>
              <a:rPr sz="1550" b="1">
                <a:solidFill>
                  <a:srgbClr val="AA1E1E"/>
                </a:solidFill>
                <a:latin typeface="Calibri"/>
              </a:rPr>
              <a:t>expensive</a:t>
            </a:r>
            <a:r>
              <a:rPr sz="1550" b="0">
                <a:solidFill>
                  <a:srgbClr val="1A1A1A"/>
                </a:solidFill>
                <a:latin typeface="Calibri"/>
              </a:rPr>
              <a:t> and you own a cheap forward model that could have caught it, or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your tools live in </a:t>
            </a:r>
            <a:r>
              <a:rPr sz="1550" b="1">
                <a:solidFill>
                  <a:srgbClr val="AA1E1E"/>
                </a:solidFill>
                <a:latin typeface="Calibri"/>
              </a:rPr>
              <a:t>someone else’s process</a:t>
            </a:r>
            <a:r>
              <a:rPr sz="1550" b="0">
                <a:solidFill>
                  <a:srgbClr val="1A1A1A"/>
                </a:solidFill>
                <a:latin typeface="Calibri"/>
              </a:rPr>
              <a:t> — a solver, a CAD kernel, a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0"/>
            <a:ext cx="1105783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 b="0" dirty="0">
                <a:solidFill>
                  <a:srgbClr val="1A1A1A"/>
                </a:solidFill>
                <a:latin typeface="Calibri"/>
              </a:rPr>
              <a:t>For each of these, different alternate patterns can make sense – providing a different set of alternative frameworks to </a:t>
            </a:r>
            <a:r>
              <a:rPr lang="en-US" sz="1500" b="0" dirty="0" err="1">
                <a:solidFill>
                  <a:srgbClr val="1A1A1A"/>
                </a:solidFill>
                <a:latin typeface="Calibri"/>
              </a:rPr>
              <a:t>ReAct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.</a:t>
            </a:r>
            <a:endParaRPr sz="1500"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1A1A1A"/>
                </a:solidFill>
                <a:latin typeface="Calibri"/>
              </a:rPr>
              <a:t>Selecting the correct framework for a given task</a:t>
            </a:r>
            <a:endParaRPr sz="25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dirty="0">
                <a:solidFill>
                  <a:srgbClr val="1A1A1A"/>
                </a:solidFill>
                <a:latin typeface="Calibri"/>
              </a:rPr>
              <a:t>Choosing a pattern is choosing </a:t>
            </a:r>
            <a:r>
              <a:rPr lang="en-US" sz="2200" b="1" dirty="0">
                <a:solidFill>
                  <a:srgbClr val="AA1E1E"/>
                </a:solidFill>
                <a:latin typeface="Calibri"/>
              </a:rPr>
              <a:t>how the logical flow is controlled</a:t>
            </a:r>
            <a:r>
              <a:rPr sz="2200" b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ReAct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the 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model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decides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LangGraph</a:t>
            </a:r>
          </a:p>
          <a:p>
            <a:pPr algn="ctr"/>
            <a:r>
              <a:rPr sz="1100" b="0" i="1">
                <a:solidFill>
                  <a:srgbClr val="6E6E6E"/>
                </a:solidFill>
                <a:latin typeface="Calibri"/>
              </a:rPr>
              <a:t>you</a:t>
            </a:r>
            <a:r>
              <a:rPr sz="1100" b="0">
                <a:solidFill>
                  <a:srgbClr val="6E6E6E"/>
                </a:solidFill>
                <a:latin typeface="Calibri"/>
              </a:rPr>
              <a:t> decide,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in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19472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F1E9F1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AutoGen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the 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conversation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decides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95744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MPC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a 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simulator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decides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62288" y="2057400"/>
            <a:ext cx="0" cy="1645920"/>
          </a:xfrm>
          <a:prstGeom prst="line">
            <a:avLst/>
          </a:prstGeom>
          <a:ln w="12700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400032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MCP</a:t>
            </a:r>
          </a:p>
          <a:p>
            <a:pPr algn="ctr"/>
            <a:r>
              <a:rPr sz="1100" b="0" i="1">
                <a:solidFill>
                  <a:srgbClr val="6E6E6E"/>
                </a:solidFill>
                <a:latin typeface="Calibri"/>
              </a:rPr>
              <a:t>nobody</a:t>
            </a:r>
            <a:r>
              <a:rPr sz="1100" b="0">
                <a:solidFill>
                  <a:srgbClr val="6E6E6E"/>
                </a:solidFill>
                <a:latin typeface="Calibri"/>
              </a:rPr>
              <a:t> —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it’s plumbing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7" y="3858768"/>
            <a:ext cx="8403337" cy="0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39776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Calibri"/>
              </a:rPr>
              <a:t>more autonomy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3" y="39776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E6E6E"/>
                </a:solidFill>
                <a:latin typeface="Calibri"/>
              </a:rPr>
              <a:t>more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39319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a </a:t>
            </a:r>
            <a:r>
              <a:rPr sz="1000" b="0" i="1">
                <a:solidFill>
                  <a:srgbClr val="6E6E6E"/>
                </a:solidFill>
                <a:latin typeface="Calibri"/>
              </a:rPr>
              <a:t>transport</a:t>
            </a:r>
            <a:r>
              <a:rPr sz="1000" b="0">
                <a:solidFill>
                  <a:srgbClr val="6E6E6E"/>
                </a:solidFill>
                <a:latin typeface="Calibri"/>
              </a:rPr>
              <a:t>,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not an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846320"/>
            <a:ext cx="11057839" cy="2231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lang="en-US" sz="1450" b="0" dirty="0">
                <a:solidFill>
                  <a:srgbClr val="1A1A1A"/>
                </a:solidFill>
                <a:latin typeface="Calibri"/>
              </a:rPr>
              <a:t>MCP is its own thing and can be combined with the other four.</a:t>
            </a:r>
            <a:endParaRPr sz="1450"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The workflow you already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CAD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3952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solve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27463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post</a:t>
            </a:r>
          </a:p>
        </p:txBody>
      </p:sp>
      <p:cxnSp>
        <p:nvCxnSpPr>
          <p:cNvPr id="8" name="Connector 7"/>
          <p:cNvCxnSpPr>
            <a:stCxn id="4" idx="3"/>
            <a:endCxn id="5" idx="1"/>
          </p:cNvCxnSpPr>
          <p:nvPr/>
        </p:nvCxnSpPr>
        <p:spPr>
          <a:xfrm>
            <a:off x="2761488" y="1572768"/>
            <a:ext cx="758952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>
            <a:off x="5715000" y="1572768"/>
            <a:ext cx="758952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3"/>
            <a:endCxn id="7" idx="1"/>
          </p:cNvCxnSpPr>
          <p:nvPr/>
        </p:nvCxnSpPr>
        <p:spPr>
          <a:xfrm>
            <a:off x="8668512" y="1572768"/>
            <a:ext cx="758951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24743" y="1938528"/>
            <a:ext cx="0" cy="457200"/>
          </a:xfrm>
          <a:prstGeom prst="line">
            <a:avLst/>
          </a:prstGeom>
          <a:ln w="15875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617720" y="2395728"/>
            <a:ext cx="5907023" cy="0"/>
          </a:xfrm>
          <a:prstGeom prst="line">
            <a:avLst/>
          </a:prstGeom>
          <a:ln w="15875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17720" y="1938528"/>
            <a:ext cx="0" cy="457200"/>
          </a:xfrm>
          <a:prstGeom prst="line">
            <a:avLst/>
          </a:prstGeom>
          <a:ln w="15875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43230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refine and repeat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9443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Most of you do this daily. The question for the rest of the morning is not how it works — it is: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747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0">
                <a:solidFill>
                  <a:srgbClr val="AA1E1E"/>
                </a:solidFill>
                <a:latin typeface="Calibri"/>
              </a:rPr>
              <a:t>What does this look like when an LLM is holding the mouse?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0624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Three things have to change: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1.  Every stage needs a </a:t>
            </a:r>
            <a:r>
              <a:rPr sz="1550" b="1">
                <a:solidFill>
                  <a:srgbClr val="1A1A1A"/>
                </a:solidFill>
                <a:latin typeface="Calibri"/>
              </a:rPr>
              <a:t>JSON-callable signature</a:t>
            </a:r>
            <a:r>
              <a:rPr sz="15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2.  Objects that can’t cross a JSON boundary (meshes, bases, matrices) need </a:t>
            </a:r>
            <a:r>
              <a:rPr sz="1550" b="1">
                <a:solidFill>
                  <a:srgbClr val="1A1A1A"/>
                </a:solidFill>
                <a:latin typeface="Calibri"/>
              </a:rPr>
              <a:t>handles</a:t>
            </a:r>
            <a:r>
              <a:rPr sz="15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3.  Every stage needs </a:t>
            </a:r>
            <a:r>
              <a:rPr sz="1550" b="1">
                <a:solidFill>
                  <a:srgbClr val="1A1A1A"/>
                </a:solidFill>
                <a:latin typeface="Calibri"/>
              </a:rPr>
              <a:t>guardrails</a:t>
            </a:r>
            <a:r>
              <a:rPr sz="1550" b="0">
                <a:solidFill>
                  <a:srgbClr val="1A1A1A"/>
                </a:solidFill>
                <a:latin typeface="Calibri"/>
              </a:rPr>
              <a:t>, because the caller is nondeterministic.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The zoo, on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19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34440"/>
          <a:ext cx="11057836" cy="25085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8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3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4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3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Control flow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Lookahead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Roles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Reach for it when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ReAct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model, step by step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open-ended, errors cheap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you, as a graph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many, fixed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you need guarantees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AutoGen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emergent, via chat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many, fluid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expertise must collide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MPC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simulator ranks plans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1">
                          <a:solidFill>
                            <a:srgbClr val="1A1A1A"/>
                          </a:solidFill>
                          <a:latin typeface="Calibri"/>
                        </a:rPr>
                        <a:t>N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 steps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one + model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wrong actions are costly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MCP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1">
                          <a:solidFill>
                            <a:srgbClr val="1A1A1A"/>
                          </a:solidFill>
                          <a:latin typeface="Calibri"/>
                        </a:rPr>
                        <a:t>orthogonal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 — how tools reach the agent, not how it decides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977639"/>
            <a:ext cx="11057839" cy="946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For each of the four architectures we will look at: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 dirty="0">
                <a:solidFill>
                  <a:srgbClr val="1A1A1A"/>
                </a:solidFill>
                <a:latin typeface="Calibri"/>
              </a:rPr>
              <a:t>the </a:t>
            </a:r>
            <a:r>
              <a:rPr sz="1550" b="1" dirty="0">
                <a:solidFill>
                  <a:srgbClr val="1A1A1A"/>
                </a:solidFill>
                <a:latin typeface="Calibri"/>
              </a:rPr>
              <a:t>syntax</a:t>
            </a:r>
            <a:r>
              <a:rPr sz="1550" b="0" dirty="0">
                <a:solidFill>
                  <a:srgbClr val="1A1A1A"/>
                </a:solidFill>
                <a:latin typeface="Calibri"/>
              </a:rPr>
              <a:t> — what the code actually looks like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lang="en-US" sz="1550" b="0" dirty="0">
                <a:solidFill>
                  <a:srgbClr val="1A1A1A"/>
                </a:solidFill>
                <a:latin typeface="Calibri"/>
              </a:rPr>
              <a:t>An </a:t>
            </a:r>
            <a:r>
              <a:rPr lang="en-US" sz="1550" b="1" dirty="0">
                <a:solidFill>
                  <a:srgbClr val="1A1A1A"/>
                </a:solidFill>
                <a:latin typeface="Calibri"/>
              </a:rPr>
              <a:t>exemplar – </a:t>
            </a:r>
            <a:r>
              <a:rPr lang="en-US" sz="1550" dirty="0">
                <a:solidFill>
                  <a:srgbClr val="1A1A1A"/>
                </a:solidFill>
                <a:latin typeface="Calibri"/>
              </a:rPr>
              <a:t>sometimes trite! So you have a working base to start hacking on top of</a:t>
            </a:r>
            <a:endParaRPr sz="1550"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1 — ReAct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the model owns 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ReAct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21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No framework. A </a:t>
            </a:r>
            <a:r>
              <a:rPr sz="1350" b="0">
                <a:solidFill>
                  <a:srgbClr val="1A1A1A"/>
                </a:solidFill>
                <a:latin typeface="Consolas"/>
              </a:rPr>
              <a:t>for</a:t>
            </a:r>
            <a:r>
              <a:rPr sz="1500" b="0">
                <a:solidFill>
                  <a:srgbClr val="1A1A1A"/>
                </a:solidFill>
                <a:latin typeface="Calibri"/>
              </a:rPr>
              <a:t> loop and a dispatch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57839" cy="38221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contents = [user_prompt]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005AA0"/>
                </a:solidFill>
                <a:latin typeface="Consolas"/>
              </a:rPr>
              <a:t>for</a:t>
            </a:r>
            <a:r>
              <a:rPr sz="1200" i="0">
                <a:solidFill>
                  <a:srgbClr val="1A1A1A"/>
                </a:solidFill>
                <a:latin typeface="Consolas"/>
              </a:rPr>
              <a:t> step </a:t>
            </a:r>
            <a:r>
              <a:rPr sz="1200" i="0">
                <a:solidFill>
                  <a:srgbClr val="005AA0"/>
                </a:solidFill>
                <a:latin typeface="Consolas"/>
              </a:rPr>
              <a:t>in</a:t>
            </a:r>
            <a:r>
              <a:rPr sz="1200" i="0">
                <a:solidFill>
                  <a:srgbClr val="1A1A1A"/>
                </a:solidFill>
                <a:latin typeface="Consolas"/>
              </a:rPr>
              <a:t> range(max_steps):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resp = client.models.generate_content(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model=MODEL, contents=contents,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config=GenerateContentConfig(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system_instruction=system_prompt,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tools=[Tool(function_declarations=tool_schemas)]))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contents.append(resp.candidates[0].content)</a:t>
            </a:r>
          </a:p>
          <a:p>
            <a:pPr algn="l">
              <a:lnSpc>
                <a:spcPct val="106000"/>
              </a:lnSpc>
            </a:pPr>
            <a:endParaRPr sz="120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calls = [p.function_call </a:t>
            </a:r>
            <a:r>
              <a:rPr sz="1200" i="0">
                <a:solidFill>
                  <a:srgbClr val="005AA0"/>
                </a:solidFill>
                <a:latin typeface="Consolas"/>
              </a:rPr>
              <a:t>for</a:t>
            </a:r>
            <a:r>
              <a:rPr sz="1200" i="0">
                <a:solidFill>
                  <a:srgbClr val="1A1A1A"/>
                </a:solidFill>
                <a:latin typeface="Consolas"/>
              </a:rPr>
              <a:t> p </a:t>
            </a:r>
            <a:r>
              <a:rPr sz="1200" i="0">
                <a:solidFill>
                  <a:srgbClr val="005AA0"/>
                </a:solidFill>
                <a:latin typeface="Consolas"/>
              </a:rPr>
              <a:t>in</a:t>
            </a:r>
            <a:r>
              <a:rPr sz="1200" i="0">
                <a:solidFill>
                  <a:srgbClr val="1A1A1A"/>
                </a:solidFill>
                <a:latin typeface="Consolas"/>
              </a:rPr>
              <a:t> resp.candidates[0].content.parts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if</a:t>
            </a:r>
            <a:r>
              <a:rPr sz="1200" i="0">
                <a:solidFill>
                  <a:srgbClr val="1A1A1A"/>
                </a:solidFill>
                <a:latin typeface="Consolas"/>
              </a:rPr>
              <a:t> p.function_call]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if</a:t>
            </a:r>
            <a:r>
              <a:rPr sz="1200" i="0">
                <a:solidFill>
                  <a:srgbClr val="1A1A1A"/>
                </a:solidFill>
                <a:latin typeface="Consolas"/>
              </a:rPr>
              <a:t> </a:t>
            </a:r>
            <a:r>
              <a:rPr sz="1200" i="0">
                <a:solidFill>
                  <a:srgbClr val="005AA0"/>
                </a:solidFill>
                <a:latin typeface="Consolas"/>
              </a:rPr>
              <a:t>not</a:t>
            </a:r>
            <a:r>
              <a:rPr sz="1200" i="0">
                <a:solidFill>
                  <a:srgbClr val="1A1A1A"/>
                </a:solidFill>
                <a:latin typeface="Consolas"/>
              </a:rPr>
              <a:t> calls: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resp.text                  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final answer</a:t>
            </a:r>
          </a:p>
          <a:p>
            <a:pPr algn="l">
              <a:lnSpc>
                <a:spcPct val="106000"/>
              </a:lnSpc>
            </a:pPr>
            <a:endParaRPr sz="120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for</a:t>
            </a:r>
            <a:r>
              <a:rPr sz="1200" i="0">
                <a:solidFill>
                  <a:srgbClr val="1A1A1A"/>
                </a:solidFill>
                <a:latin typeface="Consolas"/>
              </a:rPr>
              <a:t> fc </a:t>
            </a:r>
            <a:r>
              <a:rPr sz="1200" i="0">
                <a:solidFill>
                  <a:srgbClr val="005AA0"/>
                </a:solidFill>
                <a:latin typeface="Consolas"/>
              </a:rPr>
              <a:t>in</a:t>
            </a:r>
            <a:r>
              <a:rPr sz="1200" i="0">
                <a:solidFill>
                  <a:srgbClr val="1A1A1A"/>
                </a:solidFill>
                <a:latin typeface="Consolas"/>
              </a:rPr>
              <a:t> calls: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result = tool_fns[fc.name](**dict(fc.args))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contents.append(Part.from_function_response(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name=fc.name, response=result))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Dependencies: one SDK.  State: the </a:t>
            </a:r>
            <a:r>
              <a:rPr sz="1150" b="0">
                <a:solidFill>
                  <a:srgbClr val="1A1A1A"/>
                </a:solidFill>
                <a:latin typeface="Consolas"/>
              </a:rPr>
              <a:t>contents</a:t>
            </a:r>
            <a:r>
              <a:rPr sz="1300" b="0">
                <a:solidFill>
                  <a:srgbClr val="1A1A1A"/>
                </a:solidFill>
                <a:latin typeface="Calibri"/>
              </a:rPr>
              <a:t> list.  That’s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ReAct — exemplar: adaptive mesh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6492240" cy="26930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 dirty="0">
                <a:solidFill>
                  <a:srgbClr val="1A1A1A"/>
                </a:solidFill>
                <a:latin typeface="Calibri"/>
              </a:rPr>
              <a:t>Why </a:t>
            </a:r>
            <a:r>
              <a:rPr sz="1450" b="1" dirty="0" err="1">
                <a:solidFill>
                  <a:srgbClr val="1A1A1A"/>
                </a:solidFill>
                <a:latin typeface="Calibri"/>
              </a:rPr>
              <a:t>ReAct</a:t>
            </a:r>
            <a:r>
              <a:rPr sz="1450" b="1" dirty="0">
                <a:solidFill>
                  <a:srgbClr val="1A1A1A"/>
                </a:solidFill>
                <a:latin typeface="Calibri"/>
              </a:rPr>
              <a:t> is the right call here: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 dirty="0">
                <a:solidFill>
                  <a:srgbClr val="1A1A1A"/>
                </a:solidFill>
                <a:latin typeface="Calibri"/>
              </a:rPr>
              <a:t>The number of refinement cycles is </a:t>
            </a:r>
            <a:r>
              <a:rPr sz="1450" b="1" dirty="0">
                <a:solidFill>
                  <a:srgbClr val="AA1E1E"/>
                </a:solidFill>
                <a:latin typeface="Calibri"/>
              </a:rPr>
              <a:t>not knowable in advance</a:t>
            </a:r>
            <a:r>
              <a:rPr sz="1450" b="0" dirty="0">
                <a:solidFill>
                  <a:srgbClr val="1A1A1A"/>
                </a:solidFill>
                <a:latin typeface="Calibri"/>
              </a:rPr>
              <a:t> — it depends on observed error.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 dirty="0">
                <a:solidFill>
                  <a:srgbClr val="1A1A1A"/>
                </a:solidFill>
                <a:latin typeface="Calibri"/>
              </a:rPr>
              <a:t>Every action is </a:t>
            </a:r>
            <a:r>
              <a:rPr sz="1450" b="1" dirty="0">
                <a:solidFill>
                  <a:srgbClr val="AA1E1E"/>
                </a:solidFill>
                <a:latin typeface="Calibri"/>
              </a:rPr>
              <a:t>cheap and recoverable</a:t>
            </a:r>
            <a:r>
              <a:rPr sz="1450" b="0" dirty="0">
                <a:solidFill>
                  <a:srgbClr val="1A1A1A"/>
                </a:solidFill>
                <a:latin typeface="Calibri"/>
              </a:rPr>
              <a:t>: a bad refinement just makes a mesh </a:t>
            </a:r>
            <a:r>
              <a:rPr sz="1450" b="0">
                <a:solidFill>
                  <a:srgbClr val="1A1A1A"/>
                </a:solidFill>
                <a:latin typeface="Calibri"/>
              </a:rPr>
              <a:t>you discard</a:t>
            </a:r>
            <a:r>
              <a:rPr lang="en-US" sz="1450" b="0">
                <a:solidFill>
                  <a:srgbClr val="1A1A1A"/>
                </a:solidFill>
                <a:latin typeface="Calibri"/>
              </a:rPr>
              <a:t> (not OK in &gt; 2D!)</a:t>
            </a:r>
            <a:r>
              <a:rPr sz="1450" b="0">
                <a:solidFill>
                  <a:srgbClr val="1A1A1A"/>
                </a:solidFill>
                <a:latin typeface="Calibri"/>
              </a:rPr>
              <a:t>.</a:t>
            </a:r>
            <a:endParaRPr sz="1450" b="0" dirty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 dirty="0">
                <a:solidFill>
                  <a:srgbClr val="1A1A1A"/>
                </a:solidFill>
                <a:latin typeface="Calibri"/>
              </a:rPr>
              <a:t>The model must </a:t>
            </a:r>
            <a:r>
              <a:rPr sz="1450" b="1" dirty="0">
                <a:solidFill>
                  <a:srgbClr val="AA1E1E"/>
                </a:solidFill>
                <a:latin typeface="Calibri"/>
              </a:rPr>
              <a:t>react to observations</a:t>
            </a:r>
            <a:r>
              <a:rPr sz="1450" b="0" dirty="0">
                <a:solidFill>
                  <a:srgbClr val="1A1A1A"/>
                </a:solidFill>
                <a:latin typeface="Calibri"/>
              </a:rPr>
              <a:t> it could not have predicted (the error estimate after each solve).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 dirty="0">
                <a:solidFill>
                  <a:srgbClr val="1A1A1A"/>
                </a:solidFill>
                <a:latin typeface="Calibri"/>
              </a:rPr>
              <a:t>The tool surface is </a:t>
            </a:r>
            <a:r>
              <a:rPr sz="1450" b="1" dirty="0">
                <a:solidFill>
                  <a:srgbClr val="AA1E1E"/>
                </a:solidFill>
                <a:latin typeface="Calibri"/>
              </a:rPr>
              <a:t>small</a:t>
            </a:r>
            <a:r>
              <a:rPr sz="1450" b="0" dirty="0">
                <a:solidFill>
                  <a:srgbClr val="1A1A1A"/>
                </a:solidFill>
                <a:latin typeface="Calibri"/>
              </a:rPr>
              <a:t> — six tools.</a:t>
            </a:r>
          </a:p>
          <a:p>
            <a:r>
              <a:rPr sz="700" dirty="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 dirty="0">
                <a:solidFill>
                  <a:srgbClr val="1A1A1A"/>
                </a:solidFill>
                <a:latin typeface="Calibri"/>
              </a:rPr>
              <a:t>Greedy, one-step-at-a-time decision making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makes this the right framework.</a:t>
            </a:r>
            <a:endParaRPr sz="145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solve_poisson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24028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local_indicators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06324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refine_by_threshold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16052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stop</a:t>
            </a:r>
          </a:p>
        </p:txBody>
      </p:sp>
      <p:cxnSp>
        <p:nvCxnSpPr>
          <p:cNvPr id="9" name="Connector 8"/>
          <p:cNvCxnSpPr>
            <a:stCxn id="5" idx="2"/>
            <a:endCxn id="6" idx="0"/>
          </p:cNvCxnSpPr>
          <p:nvPr/>
        </p:nvCxnSpPr>
        <p:spPr>
          <a:xfrm flipH="1">
            <a:off x="9144000" y="1920240"/>
            <a:ext cx="0" cy="32004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2"/>
            <a:endCxn id="7" idx="0"/>
          </p:cNvCxnSpPr>
          <p:nvPr/>
        </p:nvCxnSpPr>
        <p:spPr>
          <a:xfrm flipH="1">
            <a:off x="9144000" y="2743200"/>
            <a:ext cx="0" cy="32004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7" idx="2"/>
            <a:endCxn id="8" idx="0"/>
          </p:cNvCxnSpPr>
          <p:nvPr/>
        </p:nvCxnSpPr>
        <p:spPr>
          <a:xfrm flipH="1">
            <a:off x="9144000" y="3566160"/>
            <a:ext cx="0" cy="59436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543800" y="1664208"/>
            <a:ext cx="0" cy="1645920"/>
          </a:xfrm>
          <a:prstGeom prst="bentConnector3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543800" y="3310128"/>
            <a:ext cx="274320" cy="0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1664208"/>
            <a:ext cx="2743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2331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E6E6E"/>
                </a:solidFill>
                <a:latin typeface="Calibri"/>
              </a:rPr>
              <a:t>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675887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tol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8920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6E6E6E"/>
                </a:solidFill>
                <a:latin typeface="Calibri"/>
              </a:rPr>
              <a:t>The model chooses the arrow to take at every step. Nothing in the code forces this order.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2 — Graphs (LangGraph)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you own 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LangGraph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You declare a typed state, nodes that transform it, and edges. The LLM fills in nodes;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the graph</a:t>
            </a:r>
            <a:r>
              <a:rPr sz="1450" b="0">
                <a:solidFill>
                  <a:srgbClr val="1A1A1A"/>
                </a:solidFill>
                <a:latin typeface="Calibri"/>
              </a:rPr>
              <a:t> decides what runs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1057839" cy="48127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langgraph.graph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StateGraph, END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typing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TypedDict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class</a:t>
            </a:r>
            <a:r>
              <a:rPr sz="1150" i="0">
                <a:solidFill>
                  <a:srgbClr val="1A1A1A"/>
                </a:solidFill>
                <a:latin typeface="Consolas"/>
              </a:rPr>
              <a:t> S(TypedDict):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mesh_id: int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error: float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attempts: int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solve(s):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{</a:t>
            </a:r>
            <a:r>
              <a:rPr sz="1150" i="0">
                <a:solidFill>
                  <a:srgbClr val="8C3C14"/>
                </a:solidFill>
                <a:latin typeface="Consolas"/>
              </a:rPr>
              <a:t>"error"</a:t>
            </a:r>
            <a:r>
              <a:rPr sz="1150" i="0">
                <a:solidFill>
                  <a:srgbClr val="1A1A1A"/>
                </a:solidFill>
                <a:latin typeface="Consolas"/>
              </a:rPr>
              <a:t>: run_solver(s[</a:t>
            </a:r>
            <a:r>
              <a:rPr sz="115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150" i="0">
                <a:solidFill>
                  <a:srgbClr val="1A1A1A"/>
                </a:solidFill>
                <a:latin typeface="Consolas"/>
              </a:rPr>
              <a:t>]), ...}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refine(s):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{</a:t>
            </a:r>
            <a:r>
              <a:rPr sz="115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150" i="0">
                <a:solidFill>
                  <a:srgbClr val="1A1A1A"/>
                </a:solidFill>
                <a:latin typeface="Consolas"/>
              </a:rPr>
              <a:t>: do_refine(s[</a:t>
            </a:r>
            <a:r>
              <a:rPr sz="115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150" i="0">
                <a:solidFill>
                  <a:srgbClr val="1A1A1A"/>
                </a:solidFill>
                <a:latin typeface="Consolas"/>
              </a:rPr>
              <a:t>]),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             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"attempts"</a:t>
            </a:r>
            <a:r>
              <a:rPr sz="1150" i="0">
                <a:solidFill>
                  <a:srgbClr val="1A1A1A"/>
                </a:solidFill>
                <a:latin typeface="Consolas"/>
              </a:rPr>
              <a:t>: s[</a:t>
            </a:r>
            <a:r>
              <a:rPr sz="1150" i="0">
                <a:solidFill>
                  <a:srgbClr val="8C3C14"/>
                </a:solidFill>
                <a:latin typeface="Consolas"/>
              </a:rPr>
              <a:t>"attempts"</a:t>
            </a:r>
            <a:r>
              <a:rPr sz="1150" i="0">
                <a:solidFill>
                  <a:srgbClr val="1A1A1A"/>
                </a:solidFill>
                <a:latin typeface="Consolas"/>
              </a:rPr>
              <a:t>] + 1}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route(s):                                  </a:t>
            </a:r>
            <a:r>
              <a:rPr sz="1150" i="1">
                <a:solidFill>
                  <a:srgbClr val="787878"/>
                </a:solidFill>
                <a:latin typeface="Consolas"/>
              </a:rPr>
              <a:t># &lt;- control flow, in Python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if</a:t>
            </a:r>
            <a:r>
              <a:rPr sz="1150" i="0">
                <a:solidFill>
                  <a:srgbClr val="1A1A1A"/>
                </a:solidFill>
                <a:latin typeface="Consolas"/>
              </a:rPr>
              <a:t> s[</a:t>
            </a:r>
            <a:r>
              <a:rPr sz="1150" i="0">
                <a:solidFill>
                  <a:srgbClr val="8C3C14"/>
                </a:solidFill>
                <a:latin typeface="Consolas"/>
              </a:rPr>
              <a:t>"error"</a:t>
            </a:r>
            <a:r>
              <a:rPr sz="1150" i="0">
                <a:solidFill>
                  <a:srgbClr val="1A1A1A"/>
                </a:solidFill>
                <a:latin typeface="Consolas"/>
              </a:rPr>
              <a:t>] &lt; TOL:  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if</a:t>
            </a:r>
            <a:r>
              <a:rPr sz="1150" i="0">
                <a:solidFill>
                  <a:srgbClr val="1A1A1A"/>
                </a:solidFill>
                <a:latin typeface="Consolas"/>
              </a:rPr>
              <a:t> s[</a:t>
            </a:r>
            <a:r>
              <a:rPr sz="1150" i="0">
                <a:solidFill>
                  <a:srgbClr val="8C3C14"/>
                </a:solidFill>
                <a:latin typeface="Consolas"/>
              </a:rPr>
              <a:t>"attempts"</a:t>
            </a:r>
            <a:r>
              <a:rPr sz="1150" i="0">
                <a:solidFill>
                  <a:srgbClr val="1A1A1A"/>
                </a:solidFill>
                <a:latin typeface="Consolas"/>
              </a:rPr>
              <a:t>] &gt;= 6: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"give_up"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8C3C14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 = StateGraph(S)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g.add_node(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solve); g.add_node(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refine); g.add_node(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  <a:r>
              <a:rPr sz="1150" i="0">
                <a:solidFill>
                  <a:srgbClr val="1A1A1A"/>
                </a:solidFill>
                <a:latin typeface="Consolas"/>
              </a:rPr>
              <a:t>, verify)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g.set_entry_point(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g.add_conditional_edges(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route,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{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  <a:r>
              <a:rPr sz="1150" i="0">
                <a:solidFill>
                  <a:srgbClr val="1A1A1A"/>
                </a:solidFill>
                <a:latin typeface="Consolas"/>
              </a:rPr>
              <a:t>, </a:t>
            </a:r>
            <a:r>
              <a:rPr sz="1150" i="0">
                <a:solidFill>
                  <a:srgbClr val="8C3C14"/>
                </a:solidFill>
                <a:latin typeface="Consolas"/>
              </a:rPr>
              <a:t>"give_up"</a:t>
            </a:r>
            <a:r>
              <a:rPr sz="1150" i="0">
                <a:solidFill>
                  <a:srgbClr val="1A1A1A"/>
                </a:solidFill>
                <a:latin typeface="Consolas"/>
              </a:rPr>
              <a:t>: END})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g.add_edge(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app = g.compile()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LangGraph — what you actually bought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25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Guarantees, not suggestions: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00" b="0">
                <a:solidFill>
                  <a:srgbClr val="1A1A1A"/>
                </a:solidFill>
                <a:latin typeface="Consolas"/>
              </a:rPr>
              <a:t>verify</a:t>
            </a:r>
            <a:r>
              <a:rPr sz="1450" b="0">
                <a:solidFill>
                  <a:srgbClr val="1A1A1A"/>
                </a:solidFill>
                <a:latin typeface="Calibri"/>
              </a:rPr>
              <a:t> </a:t>
            </a:r>
            <a:r>
              <a:rPr sz="1450" b="1">
                <a:solidFill>
                  <a:srgbClr val="AA1E1E"/>
                </a:solidFill>
                <a:latin typeface="Calibri"/>
              </a:rPr>
              <a:t>always</a:t>
            </a:r>
            <a:r>
              <a:rPr sz="1450" b="0">
                <a:solidFill>
                  <a:srgbClr val="1A1A1A"/>
                </a:solidFill>
                <a:latin typeface="Calibri"/>
              </a:rPr>
              <a:t> runs before a result is reported. The model cannot decide to skip it.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The retry count is </a:t>
            </a:r>
            <a:r>
              <a:rPr sz="1450" b="1">
                <a:solidFill>
                  <a:srgbClr val="AA1E1E"/>
                </a:solidFill>
                <a:latin typeface="Calibri"/>
              </a:rPr>
              <a:t>bounded in code</a:t>
            </a:r>
            <a:r>
              <a:rPr sz="1450" b="0">
                <a:solidFill>
                  <a:srgbClr val="1A1A1A"/>
                </a:solidFill>
                <a:latin typeface="Calibri"/>
              </a:rPr>
              <a:t>. No prompt can talk it into a seventh attempt.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State is </a:t>
            </a:r>
            <a:r>
              <a:rPr sz="1450" b="1">
                <a:solidFill>
                  <a:srgbClr val="AA1E1E"/>
                </a:solidFill>
                <a:latin typeface="Calibri"/>
              </a:rPr>
              <a:t>typed and inspectable</a:t>
            </a:r>
            <a:r>
              <a:rPr sz="1450" b="0">
                <a:solidFill>
                  <a:srgbClr val="1A1A1A"/>
                </a:solidFill>
                <a:latin typeface="Calibri"/>
              </a:rPr>
              <a:t> — you can log, checkpoint, and resume mid-run.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The control flow is a </a:t>
            </a:r>
            <a:r>
              <a:rPr sz="1450" b="1">
                <a:solidFill>
                  <a:srgbClr val="AA1E1E"/>
                </a:solidFill>
                <a:latin typeface="Calibri"/>
              </a:rPr>
              <a:t>diagram you can show a reviewer</a:t>
            </a:r>
            <a:r>
              <a:rPr sz="1450" b="0">
                <a:solidFill>
                  <a:srgbClr val="1A1A1A"/>
                </a:solidFill>
                <a:latin typeface="Calibri"/>
              </a:rPr>
              <a:t>, which matters when the answer feeds a design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132588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246888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37947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46888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refine</a:t>
            </a:r>
          </a:p>
        </p:txBody>
      </p:sp>
      <p:cxnSp>
        <p:nvCxnSpPr>
          <p:cNvPr id="9" name="Connector 8"/>
          <p:cNvCxnSpPr>
            <a:stCxn id="5" idx="2"/>
            <a:endCxn id="6" idx="0"/>
          </p:cNvCxnSpPr>
          <p:nvPr/>
        </p:nvCxnSpPr>
        <p:spPr>
          <a:xfrm flipH="1">
            <a:off x="10126980" y="1828800"/>
            <a:ext cx="0" cy="64008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2"/>
            <a:endCxn id="7" idx="0"/>
          </p:cNvCxnSpPr>
          <p:nvPr/>
        </p:nvCxnSpPr>
        <p:spPr>
          <a:xfrm flipH="1">
            <a:off x="10126980" y="2971800"/>
            <a:ext cx="0" cy="82296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1"/>
            <a:endCxn id="8" idx="3"/>
          </p:cNvCxnSpPr>
          <p:nvPr/>
        </p:nvCxnSpPr>
        <p:spPr>
          <a:xfrm flipH="1" flipV="1">
            <a:off x="8503920" y="2720340"/>
            <a:ext cx="777240" cy="0"/>
          </a:xfrm>
          <a:prstGeom prst="line">
            <a:avLst/>
          </a:prstGeom>
          <a:ln w="15875">
            <a:solidFill>
              <a:srgbClr val="AA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58100" y="1572768"/>
            <a:ext cx="0" cy="896112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58100" y="1572768"/>
            <a:ext cx="162306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03920" y="22128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A1E1E"/>
                </a:solidFill>
                <a:latin typeface="Calibri"/>
              </a:rPr>
              <a:t>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10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E6E6E"/>
                </a:solidFill>
                <a:latin typeface="Calibri"/>
              </a:rPr>
              <a:t>retry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6E6E6E"/>
                </a:solidFill>
                <a:latin typeface="Calibri"/>
              </a:rPr>
              <a:t>Compare with the ReAct diagram: same boxes, but here the arrows are code. The model never sees them.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LangGraph — exemplar: solve → verify →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26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The problem:</a:t>
            </a:r>
            <a:r>
              <a:rPr sz="1600" b="0">
                <a:solidFill>
                  <a:srgbClr val="1A1A1A"/>
                </a:solidFill>
                <a:latin typeface="Calibri"/>
              </a:rPr>
              <a:t> you want an FEM result you can put in a report.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28800"/>
          <a:ext cx="11057838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34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Who enforces it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Every reported result is verified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graph, not the prompt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At most 6 refinement attempts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router, in Python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 failed verification triggers repair, not a retry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 conditional edge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whole run is reproducible from a checkpoint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typed state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3192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None of these are things you want a language model deciding on a given Tuesday. When “it usually does the right thing” is not good enough, you stop asking and start wiring.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98348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Reach for a graph when the control flow is a </a:t>
            </a:r>
            <a:r>
              <a:rPr sz="1800" b="1">
                <a:solidFill>
                  <a:srgbClr val="AA1E1E"/>
                </a:solidFill>
                <a:latin typeface="Calibri"/>
              </a:rPr>
              <a:t>requirement</a:t>
            </a:r>
            <a:r>
              <a:rPr sz="1800" b="0">
                <a:solidFill>
                  <a:srgbClr val="1A1A1A"/>
                </a:solidFill>
                <a:latin typeface="Calibri"/>
              </a:rPr>
              <a:t>, not a choice.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3 — Conversational multi-agent (AutoGen)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the conversation owns 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AutoGen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You define participants with distinct system prompts and let them talk. Control flow emerges from who speaks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1057839" cy="3863467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autogen_agentchat.agents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AssistantAgent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autogen_agentchat.teams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RoundRobinGroupChat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autogen_agentchat.conditions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TextMentionTermination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modeler = AssistantAgent(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"modeler"</a:t>
            </a:r>
            <a:r>
              <a:rPr sz="1150" i="0">
                <a:solidFill>
                  <a:srgbClr val="1A1A1A"/>
                </a:solidFill>
                <a:latin typeface="Consolas"/>
              </a:rPr>
              <a:t>, model_client=client,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system_message=</a:t>
            </a:r>
            <a:r>
              <a:rPr sz="1150" i="0">
                <a:solidFill>
                  <a:srgbClr val="8C3C14"/>
                </a:solidFill>
                <a:latin typeface="Consolas"/>
              </a:rPr>
              <a:t>"You propose discretizations. Be concrete and specific."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analyst = AssistantAgent(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"analyst"</a:t>
            </a:r>
            <a:r>
              <a:rPr sz="1150" i="0">
                <a:solidFill>
                  <a:srgbClr val="1A1A1A"/>
                </a:solidFill>
                <a:latin typeface="Consolas"/>
              </a:rPr>
              <a:t>, model_client=client,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system_message=</a:t>
            </a:r>
            <a:r>
              <a:rPr sz="1150" i="0">
                <a:solidFill>
                  <a:srgbClr val="8C3C14"/>
                </a:solidFill>
                <a:latin typeface="Consolas"/>
              </a:rPr>
              <a:t>""</a:t>
            </a:r>
            <a:r>
              <a:rPr sz="1150" i="0">
                <a:solidFill>
                  <a:srgbClr val="1A1A1A"/>
                </a:solidFill>
                <a:latin typeface="Consolas"/>
              </a:rPr>
              <a:t>"You are a numerical analyst. Challenge the modeler's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proposal on stability, conditioning, </a:t>
            </a:r>
            <a:r>
              <a:rPr sz="1150" i="0">
                <a:solidFill>
                  <a:srgbClr val="005AA0"/>
                </a:solidFill>
                <a:latin typeface="Consolas"/>
              </a:rPr>
              <a:t>and</a:t>
            </a:r>
            <a:r>
              <a:rPr sz="1150" i="0">
                <a:solidFill>
                  <a:srgbClr val="1A1A1A"/>
                </a:solidFill>
                <a:latin typeface="Consolas"/>
              </a:rPr>
              <a:t> convergence rate. Do </a:t>
            </a:r>
            <a:r>
              <a:rPr sz="1150" i="0">
                <a:solidFill>
                  <a:srgbClr val="005AA0"/>
                </a:solidFill>
                <a:latin typeface="Consolas"/>
              </a:rPr>
              <a:t>not</a:t>
            </a:r>
            <a:r>
              <a:rPr sz="1150" i="0">
                <a:solidFill>
                  <a:srgbClr val="1A1A1A"/>
                </a:solidFill>
                <a:latin typeface="Consolas"/>
              </a:rPr>
              <a:t> be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agreeable; your value is </a:t>
            </a:r>
            <a:r>
              <a:rPr sz="1150" i="0">
                <a:solidFill>
                  <a:srgbClr val="005AA0"/>
                </a:solidFill>
                <a:latin typeface="Consolas"/>
              </a:rPr>
              <a:t>in</a:t>
            </a:r>
            <a:r>
              <a:rPr sz="1150" i="0">
                <a:solidFill>
                  <a:srgbClr val="1A1A1A"/>
                </a:solidFill>
                <a:latin typeface="Consolas"/>
              </a:rPr>
              <a:t> the objection.</a:t>
            </a:r>
            <a:r>
              <a:rPr sz="1150" i="0">
                <a:solidFill>
                  <a:srgbClr val="8C3C14"/>
                </a:solidFill>
                <a:latin typeface="Consolas"/>
              </a:rPr>
              <a:t>""</a:t>
            </a:r>
            <a:r>
              <a:rPr sz="1150" i="0">
                <a:solidFill>
                  <a:srgbClr val="1A1A1A"/>
                </a:solidFill>
                <a:latin typeface="Consolas"/>
              </a:rPr>
              <a:t>")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critic = AssistantAgent(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"critic"</a:t>
            </a:r>
            <a:r>
              <a:rPr sz="1150" i="0">
                <a:solidFill>
                  <a:srgbClr val="1A1A1A"/>
                </a:solidFill>
                <a:latin typeface="Consolas"/>
              </a:rPr>
              <a:t>, model_client=client,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system_message=</a:t>
            </a:r>
            <a:r>
              <a:rPr sz="1150" i="0">
                <a:solidFill>
                  <a:srgbClr val="8C3C14"/>
                </a:solidFill>
                <a:latin typeface="Consolas"/>
              </a:rPr>
              <a:t>"Judge the exchange. Say APPROVE only when convinced."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team = RoundRobinGroupChat([modeler, analyst, critic],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termination_condition=TextMentionTermination(</a:t>
            </a:r>
            <a:r>
              <a:rPr sz="1150" i="0">
                <a:solidFill>
                  <a:srgbClr val="8C3C14"/>
                </a:solidFill>
                <a:latin typeface="Consolas"/>
              </a:rPr>
              <a:t>"APPROVE"</a:t>
            </a:r>
            <a:r>
              <a:rPr sz="1150" i="0">
                <a:solidFill>
                  <a:srgbClr val="1A1A1A"/>
                </a:solidFill>
                <a:latin typeface="Consolas"/>
              </a:rPr>
              <a:t>))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await</a:t>
            </a:r>
            <a:r>
              <a:rPr sz="1150" i="0">
                <a:solidFill>
                  <a:srgbClr val="1A1A1A"/>
                </a:solidFill>
                <a:latin typeface="Consolas"/>
              </a:rPr>
              <a:t> team.run(task=</a:t>
            </a:r>
            <a:r>
              <a:rPr sz="1150" i="0">
                <a:solidFill>
                  <a:srgbClr val="8C3C14"/>
                </a:solidFill>
                <a:latin typeface="Consolas"/>
              </a:rPr>
              <a:t>"Choose a discretization for advection-dominated flow."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AutoGen — exemplar: the design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29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The problem:</a:t>
            </a:r>
            <a:r>
              <a:rPr sz="1500" b="0">
                <a:solidFill>
                  <a:srgbClr val="1A1A1A"/>
                </a:solidFill>
                <a:latin typeface="Calibri"/>
              </a:rPr>
              <a:t> choosing a discretization for an advection-dominated problem. There is no single correct answer, and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reasoning</a:t>
            </a:r>
            <a:r>
              <a:rPr sz="1500" b="0">
                <a:solidFill>
                  <a:srgbClr val="1A1A1A"/>
                </a:solidFill>
                <a:latin typeface="Calibri"/>
              </a:rPr>
              <a:t> is the deliverable.</a:t>
            </a:r>
          </a:p>
          <a:p>
            <a:r>
              <a:rPr sz="700"/>
              <a:t> 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A single ReAct agent asked “pick a discretization” produces a confident paragraph with no adversarial pressure on it.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Three agents with </a:t>
            </a:r>
            <a:r>
              <a:rPr sz="1500" b="1">
                <a:solidFill>
                  <a:srgbClr val="AA1E1E"/>
                </a:solidFill>
                <a:latin typeface="Calibri"/>
              </a:rPr>
              <a:t>genuinely different objectives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propose, object, judge — produce a transcript in which the weaknesses are stated out loud.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The artifact is not the answer. It is </a:t>
            </a:r>
            <a:r>
              <a:rPr sz="1500" b="1">
                <a:solidFill>
                  <a:srgbClr val="AA1E1E"/>
                </a:solidFill>
                <a:latin typeface="Calibri"/>
              </a:rPr>
              <a:t>the argument</a:t>
            </a:r>
            <a:r>
              <a:rPr sz="1500" b="0">
                <a:solidFill>
                  <a:srgbClr val="1A1A1A"/>
                </a:solidFill>
                <a:latin typeface="Calibri"/>
              </a:rPr>
              <a:t>, which a human can audit far faster than they can re-derive.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Reach for conversation when </a:t>
            </a:r>
            <a:r>
              <a:rPr sz="1800" b="1">
                <a:solidFill>
                  <a:srgbClr val="AA1E1E"/>
                </a:solidFill>
                <a:latin typeface="Calibri"/>
              </a:rPr>
              <a:t>disagreement is the product</a:t>
            </a:r>
            <a:r>
              <a:rPr sz="18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892040"/>
            <a:ext cx="11057839" cy="7406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Caveat worth stating plainly: this pattern is the easiest of the four to fool yourself with. Three LLMs agreeing is not three experts agreeing — they share a prior. Distinct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tools</a:t>
            </a:r>
            <a:r>
              <a:rPr sz="1300" b="0">
                <a:solidFill>
                  <a:srgbClr val="1A1A1A"/>
                </a:solidFill>
                <a:latin typeface="Calibri"/>
              </a:rPr>
              <a:t> per role helps far more than distinct adjectives in the system prompt.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4 — MPC-style planning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a simulator owns 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the idea, borrowed from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31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Model Predictive Control, as you already know it: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state sₜ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plan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N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9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simulate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forward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599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act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first step only</a:t>
            </a:r>
          </a:p>
        </p:txBody>
      </p: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V="1">
            <a:off x="3200400" y="2217420"/>
            <a:ext cx="5029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3"/>
            <a:endCxn id="7" idx="1"/>
          </p:cNvCxnSpPr>
          <p:nvPr/>
        </p:nvCxnSpPr>
        <p:spPr>
          <a:xfrm flipV="1">
            <a:off x="6035040" y="2217420"/>
            <a:ext cx="502919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7" idx="3"/>
            <a:endCxn id="8" idx="1"/>
          </p:cNvCxnSpPr>
          <p:nvPr/>
        </p:nvCxnSpPr>
        <p:spPr>
          <a:xfrm flipV="1">
            <a:off x="8869679" y="2217420"/>
            <a:ext cx="5029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38459" y="2651760"/>
            <a:ext cx="0" cy="530352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034539" y="3182112"/>
            <a:ext cx="8503920" cy="0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34539" y="2651760"/>
            <a:ext cx="0" cy="530352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323697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re-plan from the new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947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agentic version swaps one box: </a:t>
            </a:r>
            <a:r>
              <a:rPr sz="1500" b="1">
                <a:solidFill>
                  <a:srgbClr val="AA1E1E"/>
                </a:solidFill>
                <a:latin typeface="Calibri"/>
              </a:rPr>
              <a:t>the LLM proposes the candidate plans</a:t>
            </a:r>
            <a:r>
              <a:rPr sz="1500" b="0">
                <a:solidFill>
                  <a:srgbClr val="1A1A1A"/>
                </a:solidFill>
                <a:latin typeface="Calibri"/>
              </a:rPr>
              <a:t>, and the simulator — not the LLM — ranks them.</a:t>
            </a:r>
          </a:p>
          <a:p>
            <a:r>
              <a:rPr sz="700"/>
              <a:t> 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The LLM contributes what it is good at: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proposing plausible candidates</a:t>
            </a:r>
            <a:r>
              <a:rPr sz="1500" b="0">
                <a:solidFill>
                  <a:srgbClr val="1A1A1A"/>
                </a:solidFill>
                <a:latin typeface="Calibri"/>
              </a:rPr>
              <a:t> from context.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The simulator contributes what it is good at: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being right</a:t>
            </a:r>
            <a:r>
              <a:rPr sz="15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You commit only to the first action, then re-plan with real feedback.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No library needed. The pattern is the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57839" cy="2938907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state = initial_state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for</a:t>
            </a:r>
            <a:r>
              <a:rPr sz="1250" i="0">
                <a:solidFill>
                  <a:srgbClr val="1A1A1A"/>
                </a:solidFill>
                <a:latin typeface="Consolas"/>
              </a:rPr>
              <a:t> t </a:t>
            </a:r>
            <a:r>
              <a:rPr sz="1250" i="0">
                <a:solidFill>
                  <a:srgbClr val="005AA0"/>
                </a:solidFill>
                <a:latin typeface="Consolas"/>
              </a:rPr>
              <a:t>in</a:t>
            </a:r>
            <a:r>
              <a:rPr sz="1250" i="0">
                <a:solidFill>
                  <a:srgbClr val="1A1A1A"/>
                </a:solidFill>
                <a:latin typeface="Consolas"/>
              </a:rPr>
              <a:t> range(horizon):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1. LLM proposes N candidate action sequences (cheap, creative)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plans = llm_propose(state, history, n_candidates=5, lookahead=3)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2. The *simulator* scores each one (trusted, not creative)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scores = [world_model.rollout(state, plan) </a:t>
            </a:r>
            <a:r>
              <a:rPr sz="1250" i="0">
                <a:solidFill>
                  <a:srgbClr val="005AA0"/>
                </a:solidFill>
                <a:latin typeface="Consolas"/>
              </a:rPr>
              <a:t>for</a:t>
            </a:r>
            <a:r>
              <a:rPr sz="1250" i="0">
                <a:solidFill>
                  <a:srgbClr val="1A1A1A"/>
                </a:solidFill>
                <a:latin typeface="Consolas"/>
              </a:rPr>
              <a:t> plan </a:t>
            </a:r>
            <a:r>
              <a:rPr sz="1250" i="0">
                <a:solidFill>
                  <a:srgbClr val="005AA0"/>
                </a:solidFill>
                <a:latin typeface="Consolas"/>
              </a:rPr>
              <a:t>in</a:t>
            </a:r>
            <a:r>
              <a:rPr sz="1250" i="0">
                <a:solidFill>
                  <a:srgbClr val="1A1A1A"/>
                </a:solidFill>
                <a:latin typeface="Consolas"/>
              </a:rPr>
              <a:t> plans]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3. Commit to the first action of the best plan only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best = plans[argmax(scores)]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state = env.step(best[0])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&lt;- the only real action taken</a:t>
            </a:r>
          </a:p>
          <a:p>
            <a:pPr algn="l">
              <a:lnSpc>
                <a:spcPct val="106000"/>
              </a:lnSpc>
            </a:pPr>
            <a:endParaRPr sz="125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4. Re-plan from the new state (closes the loop on reality)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262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Note what the LLM never does: </a:t>
            </a:r>
            <a:r>
              <a:rPr sz="1550" b="1">
                <a:solidFill>
                  <a:srgbClr val="AA1E1E"/>
                </a:solidFill>
                <a:latin typeface="Calibri"/>
              </a:rPr>
              <a:t>it never decides which plan is best</a:t>
            </a:r>
            <a:r>
              <a:rPr sz="1550" b="0">
                <a:solidFill>
                  <a:srgbClr val="1A1A1A"/>
                </a:solidFill>
                <a:latin typeface="Calibri"/>
              </a:rPr>
              <a:t>. It generates hypotheses; the forward model adjudicates. That division is the entire value of the pattern.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exemplar: black-box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33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The problem:</a:t>
            </a:r>
            <a:r>
              <a:rPr sz="1500" b="0">
                <a:solidFill>
                  <a:srgbClr val="1A1A1A"/>
                </a:solidFill>
                <a:latin typeface="Calibri"/>
              </a:rPr>
              <a:t> find the launch angle maximizing range for a projectile under quadratic drag. The agent sees only </a:t>
            </a:r>
            <a:r>
              <a:rPr sz="1350" b="0">
                <a:solidFill>
                  <a:srgbClr val="1A1A1A"/>
                </a:solidFill>
                <a:latin typeface="Consolas"/>
              </a:rPr>
              <a:t>evaluate(angle)</a:t>
            </a:r>
            <a:r>
              <a:rPr sz="15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57839" cy="70180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350" i="0">
                <a:solidFill>
                  <a:srgbClr val="1A1A1A"/>
                </a:solidFill>
                <a:latin typeface="Consolas"/>
              </a:rPr>
              <a:t>x</a:t>
            </a:r>
            <a:r>
              <a:rPr sz="1350" i="0">
                <a:solidFill>
                  <a:srgbClr val="8C3C14"/>
                </a:solidFill>
                <a:latin typeface="Consolas"/>
              </a:rPr>
              <a:t>''</a:t>
            </a:r>
            <a:r>
              <a:rPr sz="1350" i="0">
                <a:solidFill>
                  <a:srgbClr val="1A1A1A"/>
                </a:solidFill>
                <a:latin typeface="Consolas"/>
              </a:rPr>
              <a:t> = -c_d |v| x</a:t>
            </a:r>
            <a:r>
              <a:rPr sz="1350" i="0">
                <a:solidFill>
                  <a:srgbClr val="8C3C14"/>
                </a:solidFill>
                <a:latin typeface="Consolas"/>
              </a:rPr>
              <a:t>'          y'' = -g - c_d |v| y'</a:t>
            </a:r>
          </a:p>
          <a:p>
            <a:pPr algn="l">
              <a:lnSpc>
                <a:spcPct val="106000"/>
              </a:lnSpc>
            </a:pPr>
            <a:r>
              <a:rPr sz="1350" i="0">
                <a:solidFill>
                  <a:srgbClr val="1A1A1A"/>
                </a:solidFill>
                <a:latin typeface="Consolas"/>
              </a:rPr>
              <a:t>v0 = 50 m/s      c_d = 0.01 1/m      g = 9.81 m/s^2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8892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Without drag the optimum is 45°; with drag it shifts lower. The model’s prior is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almost</a:t>
            </a:r>
            <a:r>
              <a:rPr sz="1500" b="0">
                <a:solidFill>
                  <a:srgbClr val="1A1A1A"/>
                </a:solidFill>
                <a:latin typeface="Calibri"/>
              </a:rPr>
              <a:t> right, which is the interesting case.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Every </a:t>
            </a:r>
            <a:r>
              <a:rPr sz="1350" b="0">
                <a:solidFill>
                  <a:srgbClr val="1A1A1A"/>
                </a:solidFill>
                <a:latin typeface="Consolas"/>
              </a:rPr>
              <a:t>evaluate</a:t>
            </a:r>
            <a:r>
              <a:rPr sz="1500" b="0">
                <a:solidFill>
                  <a:srgbClr val="1A1A1A"/>
                </a:solidFill>
                <a:latin typeface="Calibri"/>
              </a:rPr>
              <a:t> call is a real ODE integration — the thing we are budgeting.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We have a </a:t>
            </a:r>
            <a:r>
              <a:rPr sz="1500" b="1">
                <a:solidFill>
                  <a:srgbClr val="AA1E1E"/>
                </a:solidFill>
                <a:latin typeface="Calibri"/>
              </a:rPr>
              <a:t>cheap, trusted forward model</a:t>
            </a:r>
            <a:r>
              <a:rPr sz="1500" b="0">
                <a:solidFill>
                  <a:srgbClr val="1A1A1A"/>
                </a:solidFill>
                <a:latin typeface="Calibri"/>
              </a:rPr>
              <a:t>: a surrogate fitted to what we have seen.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3484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In the notebook we run </a:t>
            </a:r>
            <a:r>
              <a:rPr sz="1600" b="1">
                <a:solidFill>
                  <a:srgbClr val="AA1E1E"/>
                </a:solidFill>
                <a:latin typeface="Calibri"/>
              </a:rPr>
              <a:t>ReAct vs. MPC head to head on the same budget</a:t>
            </a:r>
            <a:r>
              <a:rPr sz="1600" b="0">
                <a:solidFill>
                  <a:srgbClr val="1A1A1A"/>
                </a:solidFill>
                <a:latin typeface="Calibri"/>
              </a:rPr>
              <a:t> and count evaluations to a fixed tolerance.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074920"/>
            <a:ext cx="11057839" cy="5257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This is the honest way to answer “when would I reach for one over the other” — measure it, don’t assert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when it wins, and when it doesn’t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Reach for MPC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A wrong action is </a:t>
            </a:r>
            <a:r>
              <a:rPr sz="1400" b="1">
                <a:solidFill>
                  <a:srgbClr val="AA1E1E"/>
                </a:solidFill>
                <a:latin typeface="Calibri"/>
              </a:rPr>
              <a:t>expensive or irreversible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burning budget, committing a mesh, running an experiment.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You have a </a:t>
            </a:r>
            <a:r>
              <a:rPr sz="1400" b="1">
                <a:solidFill>
                  <a:srgbClr val="AA1E1E"/>
                </a:solidFill>
                <a:latin typeface="Calibri"/>
              </a:rPr>
              <a:t>cheap forward model you trust</a:t>
            </a:r>
            <a:r>
              <a:rPr sz="1400" b="0">
                <a:solidFill>
                  <a:srgbClr val="1A1A1A"/>
                </a:solidFill>
                <a:latin typeface="Calibri"/>
              </a:rPr>
              <a:t> more than the LLM.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Actions compose, so looking </a:t>
            </a:r>
            <a:r>
              <a:rPr sz="1400" b="0" i="1">
                <a:solidFill>
                  <a:srgbClr val="1A1A1A"/>
                </a:solidFill>
                <a:latin typeface="Calibri"/>
              </a:rPr>
              <a:t>N</a:t>
            </a:r>
            <a:r>
              <a:rPr sz="1400" b="0">
                <a:solidFill>
                  <a:srgbClr val="1A1A1A"/>
                </a:solidFill>
                <a:latin typeface="Calibri"/>
              </a:rPr>
              <a:t> steps ahead genuinely differs from looking one step ahead.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078992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Don’t bother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Simulating a plan costs about what executing it costs — then just execute and observe.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You have no forward model. Then MPC degenerates into the LLM grading its own homework, which is worse than ReAct because it is </a:t>
            </a:r>
            <a:r>
              <a:rPr sz="1400" b="0" i="1">
                <a:solidFill>
                  <a:srgbClr val="1A1A1A"/>
                </a:solidFill>
                <a:latin typeface="Calibri"/>
              </a:rPr>
              <a:t>slower</a:t>
            </a:r>
            <a:r>
              <a:rPr sz="1400" b="0">
                <a:solidFill>
                  <a:srgbClr val="1A1A1A"/>
                </a:solidFill>
                <a:latin typeface="Calibri"/>
              </a:rPr>
              <a:t> and equally wrong.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The problem is convex and small. Use </a:t>
            </a:r>
            <a:r>
              <a:rPr sz="1250" b="0">
                <a:solidFill>
                  <a:srgbClr val="1A1A1A"/>
                </a:solidFill>
                <a:latin typeface="Consolas"/>
              </a:rPr>
              <a:t>scipy.optimize</a:t>
            </a:r>
            <a:r>
              <a:rPr sz="1400" b="0">
                <a:solidFill>
                  <a:srgbClr val="1A1A1A"/>
                </a:solidFill>
                <a:latin typeface="Calibri"/>
              </a:rPr>
              <a:t> and go home.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892040"/>
            <a:ext cx="11057839" cy="7406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50" b="1">
                <a:solidFill>
                  <a:srgbClr val="1A1A1A"/>
                </a:solidFill>
                <a:latin typeface="Calibri"/>
              </a:rPr>
              <a:t>The uncomfortable baseline.</a:t>
            </a:r>
            <a:r>
              <a:rPr sz="1350" b="0">
                <a:solidFill>
                  <a:srgbClr val="1A1A1A"/>
                </a:solidFill>
                <a:latin typeface="Calibri"/>
              </a:rPr>
              <a:t>  For the projectile, </a:t>
            </a:r>
            <a:r>
              <a:rPr sz="1200" b="0">
                <a:solidFill>
                  <a:srgbClr val="1A1A1A"/>
                </a:solidFill>
                <a:latin typeface="Consolas"/>
              </a:rPr>
              <a:t>minimize_scalar</a:t>
            </a:r>
            <a:r>
              <a:rPr sz="1350" b="0">
                <a:solidFill>
                  <a:srgbClr val="1A1A1A"/>
                </a:solidFill>
                <a:latin typeface="Calibri"/>
              </a:rPr>
              <a:t> finds the optimum in ~19 evaluations with no LLM at all. We run it in the notebook. If an agent cannot beat scipy, that is worth knowing — and worth saying out loud.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5 — MCP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not an architecture at all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MCP — the problem it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36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So far, every tool has been a Python function in the same process as the loop. That does not survive contact with a real simulation stack.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Your solver is:</a:t>
            </a:r>
            <a:r>
              <a:rPr sz="1500" b="0">
                <a:solidFill>
                  <a:srgbClr val="1A1A1A"/>
                </a:solidFill>
                <a:latin typeface="Calibri"/>
              </a:rPr>
              <a:t> a compiled binary. On a cluster. Behind a scheduler. Written by someone else, in Fortran, in 1994. Licensed per seat.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2240280"/>
            <a:ext cx="1417320" cy="201168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2402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ReAct agent</a:t>
            </a:r>
          </a:p>
        </p:txBody>
      </p:sp>
      <p:cxnSp>
        <p:nvCxnSpPr>
          <p:cNvPr id="7" name="Connector 6"/>
          <p:cNvCxnSpPr>
            <a:stCxn id="6" idx="3"/>
            <a:endCxn id="5" idx="1"/>
          </p:cNvCxnSpPr>
          <p:nvPr/>
        </p:nvCxnSpPr>
        <p:spPr>
          <a:xfrm>
            <a:off x="3566160" y="251460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17320" y="297180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LangGraph app</a:t>
            </a:r>
          </a:p>
        </p:txBody>
      </p:sp>
      <p:cxnSp>
        <p:nvCxnSpPr>
          <p:cNvPr id="9" name="Connector 8"/>
          <p:cNvCxnSpPr>
            <a:stCxn id="8" idx="3"/>
            <a:endCxn id="5" idx="1"/>
          </p:cNvCxnSpPr>
          <p:nvPr/>
        </p:nvCxnSpPr>
        <p:spPr>
          <a:xfrm flipV="1">
            <a:off x="3566160" y="3246120"/>
            <a:ext cx="18745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17320" y="370332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Claude / IDE</a:t>
            </a:r>
          </a:p>
        </p:txBody>
      </p:sp>
      <p:cxnSp>
        <p:nvCxnSpPr>
          <p:cNvPr id="11" name="Connector 10"/>
          <p:cNvCxnSpPr>
            <a:stCxn id="10" idx="3"/>
            <a:endCxn id="5" idx="1"/>
          </p:cNvCxnSpPr>
          <p:nvPr/>
        </p:nvCxnSpPr>
        <p:spPr>
          <a:xfrm flipV="1">
            <a:off x="3566160" y="324612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32520" y="22402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mesh server</a:t>
            </a:r>
          </a:p>
        </p:txBody>
      </p:sp>
      <p:cxnSp>
        <p:nvCxnSpPr>
          <p:cNvPr id="13" name="Connector 12"/>
          <p:cNvCxnSpPr>
            <a:stCxn id="5" idx="3"/>
            <a:endCxn id="12" idx="1"/>
          </p:cNvCxnSpPr>
          <p:nvPr/>
        </p:nvCxnSpPr>
        <p:spPr>
          <a:xfrm flipV="1">
            <a:off x="6858000" y="251460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20" y="297180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solver server</a:t>
            </a:r>
          </a:p>
        </p:txBody>
      </p:sp>
      <p:cxnSp>
        <p:nvCxnSpPr>
          <p:cNvPr id="15" name="Connector 14"/>
          <p:cNvCxnSpPr>
            <a:stCxn id="5" idx="3"/>
            <a:endCxn id="14" idx="1"/>
          </p:cNvCxnSpPr>
          <p:nvPr/>
        </p:nvCxnSpPr>
        <p:spPr>
          <a:xfrm flipV="1">
            <a:off x="6858000" y="3246120"/>
            <a:ext cx="18745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32520" y="370332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CAD server</a:t>
            </a:r>
          </a:p>
        </p:txBody>
      </p:sp>
      <p:cxnSp>
        <p:nvCxnSpPr>
          <p:cNvPr id="17" name="Connector 16"/>
          <p:cNvCxnSpPr>
            <a:stCxn id="5" idx="3"/>
            <a:endCxn id="16" idx="1"/>
          </p:cNvCxnSpPr>
          <p:nvPr/>
        </p:nvCxnSpPr>
        <p:spPr>
          <a:xfrm>
            <a:off x="6858000" y="324612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47091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MCP standardizes the contract between the two sides: </a:t>
            </a:r>
            <a:r>
              <a:rPr sz="1500" b="1">
                <a:solidFill>
                  <a:srgbClr val="AA1E1E"/>
                </a:solidFill>
                <a:latin typeface="Calibri"/>
              </a:rPr>
              <a:t>write your solver’s tool surface once</a:t>
            </a:r>
            <a:r>
              <a:rPr sz="1500" b="0">
                <a:solidFill>
                  <a:srgbClr val="1A1A1A"/>
                </a:solidFill>
                <a:latin typeface="Calibri"/>
              </a:rPr>
              <a:t>, and any MCP-speaking client can drive it — your notebook today, a colleague’s LangGraph pipeline tomorrow, a desktop assistant after that.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MCP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Server side: decorate the functions you want to expose.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57839" cy="355803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from</a:t>
            </a:r>
            <a:r>
              <a:rPr sz="1250" i="0">
                <a:solidFill>
                  <a:srgbClr val="1A1A1A"/>
                </a:solidFill>
                <a:latin typeface="Consolas"/>
              </a:rPr>
              <a:t> mcp.server.fastmcp </a:t>
            </a:r>
            <a:r>
              <a:rPr sz="12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250" i="0">
                <a:solidFill>
                  <a:srgbClr val="1A1A1A"/>
                </a:solidFill>
                <a:latin typeface="Consolas"/>
              </a:rPr>
              <a:t> FastMCP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mcp = FastMCP(</a:t>
            </a:r>
            <a:r>
              <a:rPr sz="1250" i="0">
                <a:solidFill>
                  <a:srgbClr val="8C3C14"/>
                </a:solidFill>
                <a:latin typeface="Consolas"/>
              </a:rPr>
              <a:t>"fem-tools"</a:t>
            </a:r>
            <a:r>
              <a:rPr sz="12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@mcp.tool()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solve_poisson(mesh_id: int) -&gt; dict: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8C3C14"/>
                </a:solidFill>
                <a:latin typeface="Consolas"/>
              </a:rPr>
              <a:t>"""Solve -Laplacian(u) = 1 with u=0 on the boundary."""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u, basis = solve_poisson_on(MESH_REGISTRY[mesh_id])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50" i="0">
                <a:solidFill>
                  <a:srgbClr val="1A1A1A"/>
                </a:solidFill>
                <a:latin typeface="Consolas"/>
              </a:rPr>
              <a:t> {</a:t>
            </a:r>
            <a:r>
              <a:rPr sz="1250" i="0">
                <a:solidFill>
                  <a:srgbClr val="8C3C14"/>
                </a:solidFill>
                <a:latin typeface="Consolas"/>
              </a:rPr>
              <a:t>"dofs"</a:t>
            </a:r>
            <a:r>
              <a:rPr sz="1250" i="0">
                <a:solidFill>
                  <a:srgbClr val="1A1A1A"/>
                </a:solidFill>
                <a:latin typeface="Consolas"/>
              </a:rPr>
              <a:t>: int(basis.N), </a:t>
            </a:r>
            <a:r>
              <a:rPr sz="1250" i="0">
                <a:solidFill>
                  <a:srgbClr val="8C3C14"/>
                </a:solidFill>
                <a:latin typeface="Consolas"/>
              </a:rPr>
              <a:t>"H1_error"</a:t>
            </a:r>
            <a:r>
              <a:rPr sz="1250" i="0">
                <a:solidFill>
                  <a:srgbClr val="1A1A1A"/>
                </a:solidFill>
                <a:latin typeface="Consolas"/>
              </a:rPr>
              <a:t>: h1_error(...)}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@mcp.tool()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refine_by_threshold(mesh_id: int, theta: float = 0.5) -&gt; dict: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8C3C14"/>
                </a:solidFill>
                <a:latin typeface="Consolas"/>
              </a:rPr>
              <a:t>"""Doerfler-mark and refine. theta in (0,1)."""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...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mcp.run()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now speaks MCP over stdio or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520395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type hints and docstrings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become</a:t>
            </a:r>
            <a:r>
              <a:rPr sz="1500" b="0">
                <a:solidFill>
                  <a:srgbClr val="1A1A1A"/>
                </a:solidFill>
                <a:latin typeface="Calibri"/>
              </a:rPr>
              <a:t> the JSON schema. Notice this is the same information as the “what a tool is” slide — MCP does not change what a tool is, only </a:t>
            </a:r>
            <a:r>
              <a:rPr sz="1500" b="1">
                <a:solidFill>
                  <a:srgbClr val="AA1E1E"/>
                </a:solidFill>
                <a:latin typeface="Calibri"/>
              </a:rPr>
              <a:t>who can reach it</a:t>
            </a:r>
            <a:r>
              <a:rPr sz="15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Choosing: a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80160"/>
          <a:ext cx="11057838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If this is true of your problem…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start here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 can’t specify the procedure in advance, and mistakes are cheap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ReAct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Something must </a:t>
                      </a:r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always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 happen (verify, log, approve), or a human signs off on the result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roles need different tools and different incentives, and I want the disagreement on record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AutoGen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Actions are expensive or irreversible, and I own a forward model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MPC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My tools live in another process, language, or machine — or others need to reuse them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MCP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 (with any of the above)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6177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AA1E1E"/>
                </a:solidFill>
                <a:latin typeface="Calibri"/>
              </a:rPr>
              <a:t>Start at the top.</a:t>
            </a:r>
            <a:r>
              <a:rPr sz="1700" b="0">
                <a:solidFill>
                  <a:srgbClr val="1A1A1A"/>
                </a:solidFill>
                <a:latin typeface="Calibri"/>
              </a:rPr>
              <a:t>  Every row down is more machinery, more failure surface, and more code you own. Earn each step.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Scientific computing
as a tool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scikit-fem: the whole workflow in 30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40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188720"/>
            <a:ext cx="11057839" cy="4177157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from</a:t>
            </a:r>
            <a:r>
              <a:rPr sz="1250" i="0">
                <a:solidFill>
                  <a:srgbClr val="1A1A1A"/>
                </a:solidFill>
                <a:latin typeface="Consolas"/>
              </a:rPr>
              <a:t> skfem </a:t>
            </a:r>
            <a:r>
              <a:rPr sz="12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250" i="0">
                <a:solidFill>
                  <a:srgbClr val="1A1A1A"/>
                </a:solidFill>
                <a:latin typeface="Consolas"/>
              </a:rPr>
              <a:t> *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from</a:t>
            </a:r>
            <a:r>
              <a:rPr sz="1250" i="0">
                <a:solidFill>
                  <a:srgbClr val="1A1A1A"/>
                </a:solidFill>
                <a:latin typeface="Consolas"/>
              </a:rPr>
              <a:t> skfem.helpers </a:t>
            </a:r>
            <a:r>
              <a:rPr sz="12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250" i="0">
                <a:solidFill>
                  <a:srgbClr val="1A1A1A"/>
                </a:solidFill>
                <a:latin typeface="Consolas"/>
              </a:rPr>
              <a:t> dot, grad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@BilinearForm     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weak form:  a(u,v) = int grad u . grad v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stiffness(u, v, w):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50" i="0">
                <a:solidFill>
                  <a:srgbClr val="1A1A1A"/>
                </a:solidFill>
                <a:latin typeface="Consolas"/>
              </a:rPr>
              <a:t> dot(grad(u), grad(v))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@LinearForm       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load:       L(v)   = int 1 * v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unit_load(v, w):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50" i="0">
                <a:solidFill>
                  <a:srgbClr val="1A1A1A"/>
                </a:solidFill>
                <a:latin typeface="Consolas"/>
              </a:rPr>
              <a:t> 1.0 * v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mesh  = MeshTri.init_lshaped().refined(2)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"CAD" + mesh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basis = Basis(mesh, ElementTriP1())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discretization</a:t>
            </a:r>
          </a:p>
          <a:p>
            <a:pPr algn="l">
              <a:lnSpc>
                <a:spcPct val="106000"/>
              </a:lnSpc>
            </a:pPr>
            <a:endParaRPr sz="125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K = stiffness.assemble(basis)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assemble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b = unit_load.assemble(basis)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u = solve(*condense(K, b, D=mesh.boundary_nodes()))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solve</a:t>
            </a:r>
          </a:p>
          <a:p>
            <a:pPr algn="l">
              <a:lnSpc>
                <a:spcPct val="106000"/>
              </a:lnSpc>
            </a:pPr>
            <a:endParaRPr sz="125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mesh.draw(); basis.plot(u)   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0" dirty="0">
                <a:solidFill>
                  <a:srgbClr val="1A1A1A"/>
                </a:solidFill>
                <a:latin typeface="Calibri"/>
              </a:rPr>
              <a:t>Pure Python, pip-installable, runs in </a:t>
            </a:r>
            <a:r>
              <a:rPr sz="1400" b="0" dirty="0" err="1">
                <a:solidFill>
                  <a:srgbClr val="1A1A1A"/>
                </a:solidFill>
                <a:latin typeface="Calibri"/>
              </a:rPr>
              <a:t>Colab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. Small enough to read in one sitting, real enough to show genuine convergence </a:t>
            </a:r>
            <a:r>
              <a:rPr sz="1400" b="0" dirty="0" err="1">
                <a:solidFill>
                  <a:srgbClr val="1A1A1A"/>
                </a:solidFill>
                <a:latin typeface="Calibri"/>
              </a:rPr>
              <a:t>behaviour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 — which is why we use it rather than a production code.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Re-cutting the workflow as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41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The agent cannot hold a </a:t>
            </a:r>
            <a:r>
              <a:rPr sz="1400" b="0">
                <a:solidFill>
                  <a:srgbClr val="1A1A1A"/>
                </a:solidFill>
                <a:latin typeface="Consolas"/>
              </a:rPr>
              <a:t>MeshTri</a:t>
            </a:r>
            <a:r>
              <a:rPr sz="1550" b="0">
                <a:solidFill>
                  <a:srgbClr val="1A1A1A"/>
                </a:solidFill>
                <a:latin typeface="Calibri"/>
              </a:rPr>
              <a:t> object. It can hold an integer.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57839" cy="322783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MESH_REGISTRY = {}           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int -&gt; mesh.  The agent sees only the int.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NEXT_ID = [0]</a:t>
            </a:r>
          </a:p>
          <a:p>
            <a:pPr algn="l">
              <a:lnSpc>
                <a:spcPct val="106000"/>
              </a:lnSpc>
            </a:pPr>
            <a:endParaRPr sz="120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005AA0"/>
                </a:solidFill>
                <a:latin typeface="Consolas"/>
              </a:rPr>
              <a:t>def</a:t>
            </a:r>
            <a:r>
              <a:rPr sz="1200" i="0">
                <a:solidFill>
                  <a:srgbClr val="1A1A1A"/>
                </a:solidFill>
                <a:latin typeface="Consolas"/>
              </a:rPr>
              <a:t> _register(mesh):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mid = NEXT_ID[0]; NEXT_ID[0] += 1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MESH_REGISTRY[mid] = mesh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mid</a:t>
            </a:r>
          </a:p>
          <a:p>
            <a:pPr algn="l">
              <a:lnSpc>
                <a:spcPct val="106000"/>
              </a:lnSpc>
            </a:pPr>
            <a:endParaRPr sz="120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005AA0"/>
                </a:solidFill>
                <a:latin typeface="Consolas"/>
              </a:rPr>
              <a:t>def</a:t>
            </a:r>
            <a:r>
              <a:rPr sz="1200" i="0">
                <a:solidFill>
                  <a:srgbClr val="1A1A1A"/>
                </a:solidFill>
                <a:latin typeface="Consolas"/>
              </a:rPr>
              <a:t> tool_solve_poisson(mesh_id: int):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m = MESH_REGISTRY.get(mesh_id)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if</a:t>
            </a:r>
            <a:r>
              <a:rPr sz="1200" i="0">
                <a:solidFill>
                  <a:srgbClr val="1A1A1A"/>
                </a:solidFill>
                <a:latin typeface="Consolas"/>
              </a:rPr>
              <a:t> m is </a:t>
            </a:r>
            <a:r>
              <a:rPr sz="1200" i="0">
                <a:solidFill>
                  <a:srgbClr val="005AA0"/>
                </a:solidFill>
                <a:latin typeface="Consolas"/>
              </a:rPr>
              <a:t>None</a:t>
            </a:r>
            <a:r>
              <a:rPr sz="1200" i="0">
                <a:solidFill>
                  <a:srgbClr val="1A1A1A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{</a:t>
            </a:r>
            <a:r>
              <a:rPr sz="1200" i="0">
                <a:solidFill>
                  <a:srgbClr val="8C3C14"/>
                </a:solidFill>
                <a:latin typeface="Consolas"/>
              </a:rPr>
              <a:t>"error"</a:t>
            </a:r>
            <a:r>
              <a:rPr sz="1200" i="0">
                <a:solidFill>
                  <a:srgbClr val="1A1A1A"/>
                </a:solidFill>
                <a:latin typeface="Consolas"/>
              </a:rPr>
              <a:t>: f</a:t>
            </a:r>
            <a:r>
              <a:rPr sz="1200" i="0">
                <a:solidFill>
                  <a:srgbClr val="8C3C14"/>
                </a:solidFill>
                <a:latin typeface="Consolas"/>
              </a:rPr>
              <a:t>"no mesh with id {mesh_id}"</a:t>
            </a:r>
            <a:r>
              <a:rPr sz="1200" i="0">
                <a:solidFill>
                  <a:srgbClr val="1A1A1A"/>
                </a:solidFill>
                <a:latin typeface="Consolas"/>
              </a:rPr>
              <a:t>}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observation, not crash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u, basis = solve_poisson_on(m)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{</a:t>
            </a:r>
            <a:r>
              <a:rPr sz="120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200" i="0">
                <a:solidFill>
                  <a:srgbClr val="1A1A1A"/>
                </a:solidFill>
                <a:latin typeface="Consolas"/>
              </a:rPr>
              <a:t>: mesh_id, </a:t>
            </a:r>
            <a:r>
              <a:rPr sz="1200" i="0">
                <a:solidFill>
                  <a:srgbClr val="8C3C14"/>
                </a:solidFill>
                <a:latin typeface="Consolas"/>
              </a:rPr>
              <a:t>"dofs"</a:t>
            </a:r>
            <a:r>
              <a:rPr sz="1200" i="0">
                <a:solidFill>
                  <a:srgbClr val="1A1A1A"/>
                </a:solidFill>
                <a:latin typeface="Consolas"/>
              </a:rPr>
              <a:t>: int(basis.N),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8C3C14"/>
                </a:solidFill>
                <a:latin typeface="Consolas"/>
              </a:rPr>
              <a:t>"H1_error"</a:t>
            </a:r>
            <a:r>
              <a:rPr sz="1200" i="0">
                <a:solidFill>
                  <a:srgbClr val="1A1A1A"/>
                </a:solidFill>
                <a:latin typeface="Consolas"/>
              </a:rPr>
              <a:t>: h1_error(m, u)}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9377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This </a:t>
            </a:r>
            <a:r>
              <a:rPr sz="1500" b="1">
                <a:solidFill>
                  <a:srgbClr val="AA1E1E"/>
                </a:solidFill>
                <a:latin typeface="Calibri"/>
              </a:rPr>
              <a:t>handle pattern</a:t>
            </a:r>
            <a:r>
              <a:rPr sz="1500" b="0">
                <a:solidFill>
                  <a:srgbClr val="1A1A1A"/>
                </a:solidFill>
                <a:latin typeface="Calibri"/>
              </a:rPr>
              <a:t> is the single most reusable idea in the talk. Meshes, solver contexts, CAD bodies, open files, database cursors — anything with identity and no JSON representation gets an integer and a registry.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Task: adaptive refinement on the L-shape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Poisson with uniform forcing: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        −Δu = 1  in Ω,        u = 0  on ∂Ω.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The re-entrant corner gives a singular solution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        u ∼ r^(2/3) · sin(2θ/3),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so u ∈ H^(5/3−ε) but u ∉ H².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P1 elements, expected rates: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1">
                <a:solidFill>
                  <a:srgbClr val="1A1A1A"/>
                </a:solidFill>
                <a:latin typeface="Calibri"/>
              </a:rPr>
              <a:t>Uniform</a:t>
            </a:r>
            <a:r>
              <a:rPr sz="1450" b="0">
                <a:solidFill>
                  <a:srgbClr val="1A1A1A"/>
                </a:solidFill>
                <a:latin typeface="Calibri"/>
              </a:rPr>
              <a:t> refinement: O(h^(2/3)) asymptotically. Pre-asymptotically you often see 0.7–0.95.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1">
                <a:solidFill>
                  <a:srgbClr val="1A1A1A"/>
                </a:solidFill>
                <a:latin typeface="Calibri"/>
              </a:rPr>
              <a:t>Adaptive</a:t>
            </a:r>
            <a:r>
              <a:rPr sz="1450" b="0">
                <a:solidFill>
                  <a:srgbClr val="1A1A1A"/>
                </a:solidFill>
                <a:latin typeface="Calibri"/>
              </a:rPr>
              <a:t> refinement: optimal O(N^(−1/2)), i.e. rate 1 against h ∼ N^(−1/2).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9160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The gap between those two rates is the entire point of adaptive meshing. </a:t>
            </a:r>
            <a:r>
              <a:rPr sz="1400" b="1">
                <a:solidFill>
                  <a:srgbClr val="AA1E1E"/>
                </a:solidFill>
                <a:latin typeface="Calibri"/>
              </a:rPr>
              <a:t>We are going to make an agent rediscover it.</a:t>
            </a:r>
          </a:p>
        </p:txBody>
      </p:sp>
      <p:sp>
        <p:nvSpPr>
          <p:cNvPr id="6" name="Freeform 5"/>
          <p:cNvSpPr/>
          <p:nvPr/>
        </p:nvSpPr>
        <p:spPr>
          <a:xfrm>
            <a:off x="8092440" y="1691640"/>
            <a:ext cx="2596896" cy="2596896"/>
          </a:xfrm>
          <a:custGeom>
            <a:avLst/>
            <a:gdLst/>
            <a:ahLst/>
            <a:cxnLst/>
            <a:rect l="l" t="t" r="r" b="b"/>
            <a:pathLst>
              <a:path w="2596896" h="2596896">
                <a:moveTo>
                  <a:pt x="1298448" y="1298448"/>
                </a:moveTo>
                <a:lnTo>
                  <a:pt x="2596896" y="1298448"/>
                </a:lnTo>
                <a:lnTo>
                  <a:pt x="2596896" y="0"/>
                </a:lnTo>
                <a:lnTo>
                  <a:pt x="0" y="0"/>
                </a:lnTo>
                <a:lnTo>
                  <a:pt x="0" y="2596896"/>
                </a:lnTo>
                <a:lnTo>
                  <a:pt x="1298448" y="2596896"/>
                </a:lnTo>
                <a:close/>
              </a:path>
            </a:pathLst>
          </a:custGeom>
          <a:solidFill>
            <a:srgbClr val="E8EEF7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40596" y="2939796"/>
            <a:ext cx="100584" cy="100584"/>
          </a:xfrm>
          <a:prstGeom prst="ellipse">
            <a:avLst/>
          </a:prstGeom>
          <a:solidFill>
            <a:srgbClr val="AA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0615" y="308152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E6E6E"/>
                </a:solidFill>
                <a:latin typeface="Calibri"/>
              </a:rPr>
              <a:t>re-entrant</a:t>
            </a:r>
          </a:p>
          <a:p>
            <a:pPr algn="l"/>
            <a:r>
              <a:rPr sz="1050" b="0">
                <a:solidFill>
                  <a:srgbClr val="6E6E6E"/>
                </a:solidFill>
                <a:latin typeface="Calibri"/>
              </a:rPr>
              <a:t>corner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1945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1A1A1A"/>
                </a:solidFill>
                <a:latin typeface="Calibri"/>
              </a:rPr>
              <a:t>The process for adaptive FEM</a:t>
            </a:r>
            <a:endParaRPr sz="25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1. A local error indicator ηₖ.</a:t>
            </a:r>
            <a:r>
              <a:rPr sz="1500" b="0">
                <a:solidFill>
                  <a:srgbClr val="1A1A1A"/>
                </a:solidFill>
                <a:latin typeface="Calibri"/>
              </a:rPr>
              <a:t>  For each element K, a computable proxy for how much error lives there. We use the gradient-jump indicator:</a:t>
            </a:r>
          </a:p>
        </p:txBody>
      </p:sp>
      <p:pic>
        <p:nvPicPr>
          <p:cNvPr id="5" name="Picture 4" descr="indic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74519"/>
            <a:ext cx="421783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7432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P1 gradients are discontinuous across element edges, and the size of the jump correlates with the local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37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2. Dörfler marking.</a:t>
            </a:r>
            <a:r>
              <a:rPr sz="1500" b="0">
                <a:solidFill>
                  <a:srgbClr val="1A1A1A"/>
                </a:solidFill>
                <a:latin typeface="Calibri"/>
              </a:rPr>
              <a:t>  Pick a bulk fraction θ ∈ (0,1). Mark the smallest set M whose squared indicators capture a fraction θ of the total: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        Σ(K ∈ M)  η²ₖ      ≥      θ · Σ(K)  η²ₖ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A2CD42-3271-BA83-4905-4A98FC222B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72"/>
          <a:stretch>
            <a:fillRect/>
          </a:stretch>
        </p:blipFill>
        <p:spPr>
          <a:xfrm>
            <a:off x="566928" y="4288536"/>
            <a:ext cx="10098537" cy="2569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dirty="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43</a:t>
            </a:fld>
            <a:endParaRPr lang="en-US" sz="900" dirty="0">
              <a:solidFill>
                <a:srgbClr val="9A9A9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Tools the FEM agent 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Each takes a </a:t>
            </a:r>
            <a:r>
              <a:rPr sz="1350" b="0">
                <a:solidFill>
                  <a:srgbClr val="1A1A1A"/>
                </a:solidFill>
                <a:latin typeface="Consolas"/>
              </a:rPr>
              <a:t>mesh_id</a:t>
            </a:r>
            <a:r>
              <a:rPr sz="1500" b="0">
                <a:solidFill>
                  <a:srgbClr val="1A1A1A"/>
                </a:solidFill>
                <a:latin typeface="Calibri"/>
              </a:rPr>
              <a:t> and returns a 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solve_poisson(mesh_id)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</a:t>
            </a:r>
            <a:r>
              <a:rPr sz="1350" b="0">
                <a:solidFill>
                  <a:srgbClr val="1A1A1A"/>
                </a:solidFill>
                <a:latin typeface="Consolas"/>
              </a:rPr>
              <a:t>{dofs, H1_error}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local_indicators(mesh_id)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summary stats of ηₖ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uniform_refine(mesh_id)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new mesh id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refine_by_threshold(mesh_id, theta)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Dörfler-mark and refine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check_convergence_rate()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log-log slope of the last 3 solves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stop(reason)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Guardrails, in the tools: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MAX_DOFS = 20000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a refinement that would exceed it returns an error observation instead of allocating.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Every dispatch is </a:t>
            </a:r>
            <a:r>
              <a:rPr sz="1350" b="0">
                <a:solidFill>
                  <a:srgbClr val="1A1A1A"/>
                </a:solidFill>
                <a:latin typeface="Consolas"/>
              </a:rPr>
              <a:t>try/except</a:t>
            </a:r>
            <a:r>
              <a:rPr sz="1500" b="0">
                <a:solidFill>
                  <a:srgbClr val="1A1A1A"/>
                </a:solidFill>
                <a:latin typeface="Calibri"/>
              </a:rPr>
              <a:t> wrapped.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stop</a:t>
            </a:r>
            <a:r>
              <a:rPr sz="1500" b="0">
                <a:solidFill>
                  <a:srgbClr val="1A1A1A"/>
                </a:solidFill>
                <a:latin typeface="Calibri"/>
              </a:rPr>
              <a:t> is the only terminal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5018</Words>
  <Application>Microsoft Office PowerPoint</Application>
  <PresentationFormat>Widescreen</PresentationFormat>
  <Paragraphs>513</Paragraphs>
  <Slides>44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 Trask</cp:lastModifiedBy>
  <cp:revision>2</cp:revision>
  <dcterms:created xsi:type="dcterms:W3CDTF">2013-01-27T09:14:16Z</dcterms:created>
  <dcterms:modified xsi:type="dcterms:W3CDTF">2026-09-08T02:30:11Z</dcterms:modified>
  <cp:category/>
</cp:coreProperties>
</file>