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309" r:id="rId3"/>
    <p:sldId id="310" r:id="rId4"/>
    <p:sldId id="311" r:id="rId5"/>
    <p:sldId id="257" r:id="rId6"/>
    <p:sldId id="258" r:id="rId7"/>
    <p:sldId id="259" r:id="rId8"/>
    <p:sldId id="260" r:id="rId9"/>
    <p:sldId id="261" r:id="rId10"/>
    <p:sldId id="263" r:id="rId11"/>
    <p:sldId id="264" r:id="rId12"/>
    <p:sldId id="262" r:id="rId13"/>
    <p:sldId id="265" r:id="rId14"/>
    <p:sldId id="312" r:id="rId15"/>
    <p:sldId id="266" r:id="rId16"/>
    <p:sldId id="313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A8E5D-A49E-4635-AF6A-3FBEBC85C722}" v="4" dt="2026-09-07T09:56:16.6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 Trask" userId="384e9559073622a4" providerId="LiveId" clId="{BA229D61-2944-4378-A858-36FF3999829F}"/>
    <pc:docChg chg="undo custSel addSld delSld modSld sldOrd">
      <pc:chgData name="Nat Trask" userId="384e9559073622a4" providerId="LiveId" clId="{BA229D61-2944-4378-A858-36FF3999829F}" dt="2026-09-07T12:51:11.850" v="2939" actId="20577"/>
      <pc:docMkLst>
        <pc:docMk/>
      </pc:docMkLst>
      <pc:sldChg chg="modSp mod">
        <pc:chgData name="Nat Trask" userId="384e9559073622a4" providerId="LiveId" clId="{BA229D61-2944-4378-A858-36FF3999829F}" dt="2026-09-07T08:44:11.781" v="0" actId="20577"/>
        <pc:sldMkLst>
          <pc:docMk/>
          <pc:sldMk cId="0" sldId="256"/>
        </pc:sldMkLst>
        <pc:spChg chg="mod">
          <ac:chgData name="Nat Trask" userId="384e9559073622a4" providerId="LiveId" clId="{BA229D61-2944-4378-A858-36FF3999829F}" dt="2026-09-07T08:44:11.781" v="0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Nat Trask" userId="384e9559073622a4" providerId="LiveId" clId="{BA229D61-2944-4378-A858-36FF3999829F}" dt="2026-09-07T09:53:54.399" v="2668" actId="20577"/>
        <pc:sldMkLst>
          <pc:docMk/>
          <pc:sldMk cId="0" sldId="257"/>
        </pc:sldMkLst>
        <pc:spChg chg="mod">
          <ac:chgData name="Nat Trask" userId="384e9559073622a4" providerId="LiveId" clId="{BA229D61-2944-4378-A858-36FF3999829F}" dt="2026-09-07T09:53:54.399" v="2668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51:03.532" v="2633" actId="1076"/>
          <ac:spMkLst>
            <pc:docMk/>
            <pc:sldMk cId="0" sldId="257"/>
            <ac:spMk id="5" creationId="{00000000-0000-0000-0000-000000000000}"/>
          </ac:spMkLst>
        </pc:spChg>
        <pc:spChg chg="add mod">
          <ac:chgData name="Nat Trask" userId="384e9559073622a4" providerId="LiveId" clId="{BA229D61-2944-4378-A858-36FF3999829F}" dt="2026-09-07T09:52:42.559" v="2652" actId="20577"/>
          <ac:spMkLst>
            <pc:docMk/>
            <pc:sldMk cId="0" sldId="257"/>
            <ac:spMk id="9" creationId="{70958203-0AD6-A217-4163-D4E261095045}"/>
          </ac:spMkLst>
        </pc:spChg>
        <pc:spChg chg="add mod">
          <ac:chgData name="Nat Trask" userId="384e9559073622a4" providerId="LiveId" clId="{BA229D61-2944-4378-A858-36FF3999829F}" dt="2026-09-07T09:52:57.173" v="2664" actId="113"/>
          <ac:spMkLst>
            <pc:docMk/>
            <pc:sldMk cId="0" sldId="257"/>
            <ac:spMk id="10" creationId="{7D0946F4-1017-6B03-0936-9F25ADC02ABD}"/>
          </ac:spMkLst>
        </pc:spChg>
        <pc:picChg chg="add mod">
          <ac:chgData name="Nat Trask" userId="384e9559073622a4" providerId="LiveId" clId="{BA229D61-2944-4378-A858-36FF3999829F}" dt="2026-09-07T09:51:37.939" v="2637" actId="1076"/>
          <ac:picMkLst>
            <pc:docMk/>
            <pc:sldMk cId="0" sldId="257"/>
            <ac:picMk id="7" creationId="{6F621B15-815A-C0A0-B93C-93F594F842B3}"/>
          </ac:picMkLst>
        </pc:picChg>
        <pc:picChg chg="add mod">
          <ac:chgData name="Nat Trask" userId="384e9559073622a4" providerId="LiveId" clId="{BA229D61-2944-4378-A858-36FF3999829F}" dt="2026-09-07T09:52:21.484" v="2642" actId="1076"/>
          <ac:picMkLst>
            <pc:docMk/>
            <pc:sldMk cId="0" sldId="257"/>
            <ac:picMk id="8" creationId="{68616E95-CB41-F7AC-80F5-4F0E49D26174}"/>
          </ac:picMkLst>
        </pc:picChg>
      </pc:sldChg>
      <pc:sldChg chg="modSp mod">
        <pc:chgData name="Nat Trask" userId="384e9559073622a4" providerId="LiveId" clId="{BA229D61-2944-4378-A858-36FF3999829F}" dt="2026-09-07T09:03:39.480" v="672" actId="20577"/>
        <pc:sldMkLst>
          <pc:docMk/>
          <pc:sldMk cId="0" sldId="258"/>
        </pc:sldMkLst>
        <pc:spChg chg="mod">
          <ac:chgData name="Nat Trask" userId="384e9559073622a4" providerId="LiveId" clId="{BA229D61-2944-4378-A858-36FF3999829F}" dt="2026-09-07T09:03:39.480" v="672" actId="20577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4:18.284" v="694" actId="113"/>
        <pc:sldMkLst>
          <pc:docMk/>
          <pc:sldMk cId="0" sldId="259"/>
        </pc:sldMkLst>
        <pc:spChg chg="mod">
          <ac:chgData name="Nat Trask" userId="384e9559073622a4" providerId="LiveId" clId="{BA229D61-2944-4378-A858-36FF3999829F}" dt="2026-09-07T09:04:05.743" v="693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4:18.284" v="694" actId="113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09:47.278" v="1220" actId="20577"/>
        <pc:sldMkLst>
          <pc:docMk/>
          <pc:sldMk cId="0" sldId="260"/>
        </pc:sldMkLst>
        <pc:spChg chg="mod">
          <ac:chgData name="Nat Trask" userId="384e9559073622a4" providerId="LiveId" clId="{BA229D61-2944-4378-A858-36FF3999829F}" dt="2026-09-07T09:05:43.549" v="75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05:49.022" v="760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2.620" v="1198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47.278" v="122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Nat Trask" userId="384e9559073622a4" providerId="LiveId" clId="{BA229D61-2944-4378-A858-36FF3999829F}" dt="2026-09-07T09:07:53.530" v="978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Nat Trask" userId="384e9559073622a4" providerId="LiveId" clId="{BA229D61-2944-4378-A858-36FF3999829F}" dt="2026-09-07T09:09:17.350" v="1183" actId="20577"/>
          <ac:spMkLst>
            <pc:docMk/>
            <pc:sldMk cId="0" sldId="260"/>
            <ac:spMk id="9" creationId="{00000000-0000-0000-0000-000000000000}"/>
          </ac:spMkLst>
        </pc:spChg>
      </pc:sldChg>
      <pc:sldChg chg="ord">
        <pc:chgData name="Nat Trask" userId="384e9559073622a4" providerId="LiveId" clId="{BA229D61-2944-4378-A858-36FF3999829F}" dt="2026-09-07T12:47:45.819" v="2727"/>
        <pc:sldMkLst>
          <pc:docMk/>
          <pc:sldMk cId="0" sldId="263"/>
        </pc:sldMkLst>
      </pc:sldChg>
      <pc:sldChg chg="modSp mod ord">
        <pc:chgData name="Nat Trask" userId="384e9559073622a4" providerId="LiveId" clId="{BA229D61-2944-4378-A858-36FF3999829F}" dt="2026-09-07T12:47:56.121" v="2729"/>
        <pc:sldMkLst>
          <pc:docMk/>
          <pc:sldMk cId="0" sldId="264"/>
        </pc:sldMkLst>
        <pc:spChg chg="mod">
          <ac:chgData name="Nat Trask" userId="384e9559073622a4" providerId="LiveId" clId="{BA229D61-2944-4378-A858-36FF3999829F}" dt="2026-09-07T09:14:20.944" v="1796" actId="20577"/>
          <ac:spMkLst>
            <pc:docMk/>
            <pc:sldMk cId="0" sldId="264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5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Nat Trask" userId="384e9559073622a4" providerId="LiveId" clId="{BA229D61-2944-4378-A858-36FF3999829F}" dt="2026-09-07T09:14:26.333" v="1797" actId="1076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5:55.106" v="1909" actId="20577"/>
        <pc:sldMkLst>
          <pc:docMk/>
          <pc:sldMk cId="0" sldId="265"/>
        </pc:sldMkLst>
        <pc:spChg chg="mod">
          <ac:chgData name="Nat Trask" userId="384e9559073622a4" providerId="LiveId" clId="{BA229D61-2944-4378-A858-36FF3999829F}" dt="2026-09-07T09:15:55.106" v="1909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modSp mod ord">
        <pc:chgData name="Nat Trask" userId="384e9559073622a4" providerId="LiveId" clId="{BA229D61-2944-4378-A858-36FF3999829F}" dt="2026-09-07T10:06:32.811" v="2721" actId="1076"/>
        <pc:sldMkLst>
          <pc:docMk/>
          <pc:sldMk cId="0" sldId="266"/>
        </pc:sldMkLst>
        <pc:spChg chg="mod">
          <ac:chgData name="Nat Trask" userId="384e9559073622a4" providerId="LiveId" clId="{BA229D61-2944-4378-A858-36FF3999829F}" dt="2026-09-07T10:05:59.074" v="2715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0:06:13.683" v="2717" actId="1076"/>
          <ac:spMkLst>
            <pc:docMk/>
            <pc:sldMk cId="0" sldId="266"/>
            <ac:spMk id="5" creationId="{00000000-0000-0000-0000-000000000000}"/>
          </ac:spMkLst>
        </pc:spChg>
        <pc:picChg chg="add mod">
          <ac:chgData name="Nat Trask" userId="384e9559073622a4" providerId="LiveId" clId="{BA229D61-2944-4378-A858-36FF3999829F}" dt="2026-09-07T10:06:15.107" v="2718" actId="1076"/>
          <ac:picMkLst>
            <pc:docMk/>
            <pc:sldMk cId="0" sldId="266"/>
            <ac:picMk id="7" creationId="{3F01728C-AE01-C627-9F89-AC51590022B2}"/>
          </ac:picMkLst>
        </pc:picChg>
        <pc:picChg chg="add mod">
          <ac:chgData name="Nat Trask" userId="384e9559073622a4" providerId="LiveId" clId="{BA229D61-2944-4378-A858-36FF3999829F}" dt="2026-09-07T10:06:32.811" v="2721" actId="1076"/>
          <ac:picMkLst>
            <pc:docMk/>
            <pc:sldMk cId="0" sldId="266"/>
            <ac:picMk id="9" creationId="{8B8BC927-6F3D-0841-BE77-603F25E5F4EA}"/>
          </ac:picMkLst>
        </pc:picChg>
      </pc:sldChg>
      <pc:sldChg chg="modSp mod">
        <pc:chgData name="Nat Trask" userId="384e9559073622a4" providerId="LiveId" clId="{BA229D61-2944-4378-A858-36FF3999829F}" dt="2026-09-07T12:49:50.246" v="2915" actId="20577"/>
        <pc:sldMkLst>
          <pc:docMk/>
          <pc:sldMk cId="0" sldId="268"/>
        </pc:sldMkLst>
        <pc:spChg chg="mod">
          <ac:chgData name="Nat Trask" userId="384e9559073622a4" providerId="LiveId" clId="{BA229D61-2944-4378-A858-36FF3999829F}" dt="2026-09-07T12:48:45.159" v="2754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Nat Trask" userId="384e9559073622a4" providerId="LiveId" clId="{BA229D61-2944-4378-A858-36FF3999829F}" dt="2026-09-07T12:49:50.246" v="2915" actId="20577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7:48.252" v="2098" actId="122"/>
        <pc:sldMkLst>
          <pc:docMk/>
          <pc:sldMk cId="0" sldId="269"/>
        </pc:sldMkLst>
        <pc:spChg chg="mod">
          <ac:chgData name="Nat Trask" userId="384e9559073622a4" providerId="LiveId" clId="{BA229D61-2944-4378-A858-36FF3999829F}" dt="2026-09-07T09:17:11.439" v="2017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Nat Trask" userId="384e9559073622a4" providerId="LiveId" clId="{BA229D61-2944-4378-A858-36FF3999829F}" dt="2026-09-07T09:17:48.252" v="2098" actId="122"/>
          <ac:spMkLst>
            <pc:docMk/>
            <pc:sldMk cId="0" sldId="269"/>
            <ac:spMk id="1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18:49.690" v="2206" actId="20577"/>
        <pc:sldMkLst>
          <pc:docMk/>
          <pc:sldMk cId="0" sldId="270"/>
        </pc:sldMkLst>
        <pc:spChg chg="mod">
          <ac:chgData name="Nat Trask" userId="384e9559073622a4" providerId="LiveId" clId="{BA229D61-2944-4378-A858-36FF3999829F}" dt="2026-09-07T09:18:49.690" v="2206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0:04.633" v="2306" actId="20577"/>
        <pc:sldMkLst>
          <pc:docMk/>
          <pc:sldMk cId="0" sldId="271"/>
        </pc:sldMkLst>
        <pc:spChg chg="mod">
          <ac:chgData name="Nat Trask" userId="384e9559073622a4" providerId="LiveId" clId="{BA229D61-2944-4378-A858-36FF3999829F}" dt="2026-09-07T09:20:04.633" v="2306" actId="20577"/>
          <ac:spMkLst>
            <pc:docMk/>
            <pc:sldMk cId="0" sldId="271"/>
            <ac:spMk id="6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12:51:11.850" v="2939" actId="20577"/>
        <pc:sldMkLst>
          <pc:docMk/>
          <pc:sldMk cId="0" sldId="274"/>
        </pc:sldMkLst>
        <pc:spChg chg="mod">
          <ac:chgData name="Nat Trask" userId="384e9559073622a4" providerId="LiveId" clId="{BA229D61-2944-4378-A858-36FF3999829F}" dt="2026-09-07T12:51:11.850" v="2939" actId="20577"/>
          <ac:spMkLst>
            <pc:docMk/>
            <pc:sldMk cId="0" sldId="274"/>
            <ac:spMk id="4" creationId="{00000000-0000-0000-0000-000000000000}"/>
          </ac:spMkLst>
        </pc:spChg>
      </pc:sldChg>
      <pc:sldChg chg="modSp mod">
        <pc:chgData name="Nat Trask" userId="384e9559073622a4" providerId="LiveId" clId="{BA229D61-2944-4378-A858-36FF3999829F}" dt="2026-09-07T09:24:27.012" v="2344" actId="1076"/>
        <pc:sldMkLst>
          <pc:docMk/>
          <pc:sldMk cId="0" sldId="290"/>
        </pc:sldMkLst>
        <pc:spChg chg="mod">
          <ac:chgData name="Nat Trask" userId="384e9559073622a4" providerId="LiveId" clId="{BA229D61-2944-4378-A858-36FF3999829F}" dt="2026-09-07T09:24:27.012" v="2344" actId="1076"/>
          <ac:spMkLst>
            <pc:docMk/>
            <pc:sldMk cId="0" sldId="290"/>
            <ac:spMk id="6" creationId="{00000000-0000-0000-0000-000000000000}"/>
          </ac:spMkLst>
        </pc:spChg>
      </pc:sldChg>
      <pc:sldChg chg="addSp delSp modSp mod">
        <pc:chgData name="Nat Trask" userId="384e9559073622a4" providerId="LiveId" clId="{BA229D61-2944-4378-A858-36FF3999829F}" dt="2026-09-07T09:30:07.911" v="2380" actId="20577"/>
        <pc:sldMkLst>
          <pc:docMk/>
          <pc:sldMk cId="0" sldId="298"/>
        </pc:sldMkLst>
        <pc:spChg chg="mod">
          <ac:chgData name="Nat Trask" userId="384e9559073622a4" providerId="LiveId" clId="{BA229D61-2944-4378-A858-36FF3999829F}" dt="2026-09-07T09:30:07.911" v="2380" actId="20577"/>
          <ac:spMkLst>
            <pc:docMk/>
            <pc:sldMk cId="0" sldId="298"/>
            <ac:spMk id="2" creationId="{00000000-0000-0000-0000-000000000000}"/>
          </ac:spMkLst>
        </pc:spChg>
        <pc:spChg chg="ord">
          <ac:chgData name="Nat Trask" userId="384e9559073622a4" providerId="LiveId" clId="{BA229D61-2944-4378-A858-36FF3999829F}" dt="2026-09-07T09:29:49.888" v="2351" actId="166"/>
          <ac:spMkLst>
            <pc:docMk/>
            <pc:sldMk cId="0" sldId="298"/>
            <ac:spMk id="3" creationId="{00000000-0000-0000-0000-000000000000}"/>
          </ac:spMkLst>
        </pc:spChg>
        <pc:spChg chg="del">
          <ac:chgData name="Nat Trask" userId="384e9559073622a4" providerId="LiveId" clId="{BA229D61-2944-4378-A858-36FF3999829F}" dt="2026-09-07T09:27:34.992" v="2345" actId="478"/>
          <ac:spMkLst>
            <pc:docMk/>
            <pc:sldMk cId="0" sldId="298"/>
            <ac:spMk id="8" creationId="{00000000-0000-0000-0000-000000000000}"/>
          </ac:spMkLst>
        </pc:spChg>
        <pc:picChg chg="add mod modCrop">
          <ac:chgData name="Nat Trask" userId="384e9559073622a4" providerId="LiveId" clId="{BA229D61-2944-4378-A858-36FF3999829F}" dt="2026-09-07T09:29:55.532" v="2352" actId="1076"/>
          <ac:picMkLst>
            <pc:docMk/>
            <pc:sldMk cId="0" sldId="298"/>
            <ac:picMk id="9" creationId="{6AA2CD42-3271-BA83-4905-4A98FC222B6E}"/>
          </ac:picMkLst>
        </pc:picChg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0"/>
        </pc:sldMkLst>
      </pc:sldChg>
      <pc:sldChg chg="add del mod modShow">
        <pc:chgData name="Nat Trask" userId="384e9559073622a4" providerId="LiveId" clId="{BA229D61-2944-4378-A858-36FF3999829F}" dt="2026-09-07T09:49:53.431" v="2629" actId="729"/>
        <pc:sldMkLst>
          <pc:docMk/>
          <pc:sldMk cId="0" sldId="301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2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3"/>
        </pc:sldMkLst>
      </pc:sldChg>
      <pc:sldChg chg="mod modShow">
        <pc:chgData name="Nat Trask" userId="384e9559073622a4" providerId="LiveId" clId="{BA229D61-2944-4378-A858-36FF3999829F}" dt="2026-09-07T09:49:53.431" v="2629" actId="729"/>
        <pc:sldMkLst>
          <pc:docMk/>
          <pc:sldMk cId="0" sldId="304"/>
        </pc:sldMkLst>
      </pc:sldChg>
      <pc:sldChg chg="modSp mod">
        <pc:chgData name="Nat Trask" userId="384e9559073622a4" providerId="LiveId" clId="{BA229D61-2944-4378-A858-36FF3999829F}" dt="2026-09-07T09:50:32.702" v="2632" actId="20577"/>
        <pc:sldMkLst>
          <pc:docMk/>
          <pc:sldMk cId="0" sldId="306"/>
        </pc:sldMkLst>
        <pc:spChg chg="mod">
          <ac:chgData name="Nat Trask" userId="384e9559073622a4" providerId="LiveId" clId="{BA229D61-2944-4378-A858-36FF3999829F}" dt="2026-09-07T09:50:32.702" v="2632" actId="20577"/>
          <ac:spMkLst>
            <pc:docMk/>
            <pc:sldMk cId="0" sldId="306"/>
            <ac:spMk id="5" creationId="{00000000-0000-0000-0000-000000000000}"/>
          </ac:spMkLst>
        </pc:spChg>
      </pc:sldChg>
      <pc:sldChg chg="del">
        <pc:chgData name="Nat Trask" userId="384e9559073622a4" providerId="LiveId" clId="{BA229D61-2944-4378-A858-36FF3999829F}" dt="2026-09-07T09:30:41.054" v="2381" actId="47"/>
        <pc:sldMkLst>
          <pc:docMk/>
          <pc:sldMk cId="0" sldId="308"/>
        </pc:sldMkLst>
      </pc:sldChg>
      <pc:sldChg chg="delSp modSp add mod ord">
        <pc:chgData name="Nat Trask" userId="384e9559073622a4" providerId="LiveId" clId="{BA229D61-2944-4378-A858-36FF3999829F}" dt="2026-09-07T08:50:02.516" v="345" actId="20577"/>
        <pc:sldMkLst>
          <pc:docMk/>
          <pc:sldMk cId="1857007415" sldId="309"/>
        </pc:sldMkLst>
        <pc:spChg chg="mod">
          <ac:chgData name="Nat Trask" userId="384e9559073622a4" providerId="LiveId" clId="{BA229D61-2944-4378-A858-36FF3999829F}" dt="2026-09-07T08:50:02.516" v="345" actId="20577"/>
          <ac:spMkLst>
            <pc:docMk/>
            <pc:sldMk cId="1857007415" sldId="309"/>
            <ac:spMk id="4" creationId="{49944751-51AD-FAA1-5386-35D0A623810D}"/>
          </ac:spMkLst>
        </pc:spChg>
        <pc:spChg chg="del">
          <ac:chgData name="Nat Trask" userId="384e9559073622a4" providerId="LiveId" clId="{BA229D61-2944-4378-A858-36FF3999829F}" dt="2026-09-07T08:47:09.499" v="159" actId="478"/>
          <ac:spMkLst>
            <pc:docMk/>
            <pc:sldMk cId="1857007415" sldId="309"/>
            <ac:spMk id="5" creationId="{BA48E613-F127-304F-CFDF-9A7E658A81CC}"/>
          </ac:spMkLst>
        </pc:spChg>
      </pc:sldChg>
      <pc:sldChg chg="addSp delSp modSp add mod">
        <pc:chgData name="Nat Trask" userId="384e9559073622a4" providerId="LiveId" clId="{BA229D61-2944-4378-A858-36FF3999829F}" dt="2026-09-07T08:54:16.058" v="376" actId="1076"/>
        <pc:sldMkLst>
          <pc:docMk/>
          <pc:sldMk cId="2262162754" sldId="310"/>
        </pc:sldMkLst>
        <pc:spChg chg="mod">
          <ac:chgData name="Nat Trask" userId="384e9559073622a4" providerId="LiveId" clId="{BA229D61-2944-4378-A858-36FF3999829F}" dt="2026-09-07T08:52:46.370" v="357" actId="20577"/>
          <ac:spMkLst>
            <pc:docMk/>
            <pc:sldMk cId="2262162754" sldId="310"/>
            <ac:spMk id="2" creationId="{B5B63AA2-FE8F-D076-E076-CAE54518B074}"/>
          </ac:spMkLst>
        </pc:spChg>
        <pc:spChg chg="del">
          <ac:chgData name="Nat Trask" userId="384e9559073622a4" providerId="LiveId" clId="{BA229D61-2944-4378-A858-36FF3999829F}" dt="2026-09-07T08:52:43.496" v="347" actId="478"/>
          <ac:spMkLst>
            <pc:docMk/>
            <pc:sldMk cId="2262162754" sldId="310"/>
            <ac:spMk id="4" creationId="{C05A7482-3AB6-A69D-D9C2-6372D08F5B56}"/>
          </ac:spMkLst>
        </pc:spChg>
        <pc:picChg chg="add mod">
          <ac:chgData name="Nat Trask" userId="384e9559073622a4" providerId="LiveId" clId="{BA229D61-2944-4378-A858-36FF3999829F}" dt="2026-09-07T08:53:42.555" v="369" actId="14100"/>
          <ac:picMkLst>
            <pc:docMk/>
            <pc:sldMk cId="2262162754" sldId="310"/>
            <ac:picMk id="6" creationId="{0306B62F-9829-0D20-B2AC-D72F1D7356B6}"/>
          </ac:picMkLst>
        </pc:picChg>
        <pc:picChg chg="add mod">
          <ac:chgData name="Nat Trask" userId="384e9559073622a4" providerId="LiveId" clId="{BA229D61-2944-4378-A858-36FF3999829F}" dt="2026-09-07T08:53:47.506" v="371" actId="14100"/>
          <ac:picMkLst>
            <pc:docMk/>
            <pc:sldMk cId="2262162754" sldId="310"/>
            <ac:picMk id="8" creationId="{336C62C5-DF80-C649-5601-F74AAF0D8143}"/>
          </ac:picMkLst>
        </pc:picChg>
        <pc:picChg chg="add mod">
          <ac:chgData name="Nat Trask" userId="384e9559073622a4" providerId="LiveId" clId="{BA229D61-2944-4378-A858-36FF3999829F}" dt="2026-09-07T08:53:52.699" v="373" actId="1076"/>
          <ac:picMkLst>
            <pc:docMk/>
            <pc:sldMk cId="2262162754" sldId="310"/>
            <ac:picMk id="9" creationId="{066D57BA-3046-04F9-14FF-1D93424267EC}"/>
          </ac:picMkLst>
        </pc:picChg>
        <pc:picChg chg="add mod">
          <ac:chgData name="Nat Trask" userId="384e9559073622a4" providerId="LiveId" clId="{BA229D61-2944-4378-A858-36FF3999829F}" dt="2026-09-07T08:53:54.834" v="374" actId="1076"/>
          <ac:picMkLst>
            <pc:docMk/>
            <pc:sldMk cId="2262162754" sldId="310"/>
            <ac:picMk id="10" creationId="{D7E89231-F49C-403B-4FFE-CDF4184C1803}"/>
          </ac:picMkLst>
        </pc:picChg>
        <pc:picChg chg="add mod">
          <ac:chgData name="Nat Trask" userId="384e9559073622a4" providerId="LiveId" clId="{BA229D61-2944-4378-A858-36FF3999829F}" dt="2026-09-07T08:54:16.058" v="376" actId="1076"/>
          <ac:picMkLst>
            <pc:docMk/>
            <pc:sldMk cId="2262162754" sldId="310"/>
            <ac:picMk id="12" creationId="{BFFBBFC7-2582-3F08-7A48-6142DF67BA90}"/>
          </ac:picMkLst>
        </pc:picChg>
      </pc:sldChg>
      <pc:sldChg chg="addSp delSp modSp add mod">
        <pc:chgData name="Nat Trask" userId="384e9559073622a4" providerId="LiveId" clId="{BA229D61-2944-4378-A858-36FF3999829F}" dt="2026-09-07T09:33:11.002" v="2624" actId="20577"/>
        <pc:sldMkLst>
          <pc:docMk/>
          <pc:sldMk cId="1130776603" sldId="311"/>
        </pc:sldMkLst>
        <pc:spChg chg="mod">
          <ac:chgData name="Nat Trask" userId="384e9559073622a4" providerId="LiveId" clId="{BA229D61-2944-4378-A858-36FF3999829F}" dt="2026-09-07T08:54:48.537" v="402" actId="20577"/>
          <ac:spMkLst>
            <pc:docMk/>
            <pc:sldMk cId="1130776603" sldId="311"/>
            <ac:spMk id="2" creationId="{C5056340-395C-1D12-4256-BDB7BE699D14}"/>
          </ac:spMkLst>
        </pc:spChg>
        <pc:spChg chg="add mod">
          <ac:chgData name="Nat Trask" userId="384e9559073622a4" providerId="LiveId" clId="{BA229D61-2944-4378-A858-36FF3999829F}" dt="2026-09-07T09:33:11.002" v="2624" actId="20577"/>
          <ac:spMkLst>
            <pc:docMk/>
            <pc:sldMk cId="1130776603" sldId="311"/>
            <ac:spMk id="13" creationId="{618A339D-F4FC-3EB6-1E81-7C22EBB1C346}"/>
          </ac:spMkLst>
        </pc:spChg>
        <pc:picChg chg="add mod">
          <ac:chgData name="Nat Trask" userId="384e9559073622a4" providerId="LiveId" clId="{BA229D61-2944-4378-A858-36FF3999829F}" dt="2026-09-07T08:56:11.500" v="407" actId="1076"/>
          <ac:picMkLst>
            <pc:docMk/>
            <pc:sldMk cId="1130776603" sldId="311"/>
            <ac:picMk id="5" creationId="{8D5CE427-DC12-1005-64F8-6EFF6A46FECF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6" creationId="{2305A5AE-9BAC-20A5-1AB3-D1C0865F5CF9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8" creationId="{3D56B89B-9BC2-04F7-871C-095DD4778D3B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9" creationId="{C14061C8-1DB3-A059-120D-7765CF5717CC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0" creationId="{B66FF432-C168-F365-B093-CDC968A82E5D}"/>
          </ac:picMkLst>
        </pc:picChg>
        <pc:picChg chg="add mod">
          <ac:chgData name="Nat Trask" userId="384e9559073622a4" providerId="LiveId" clId="{BA229D61-2944-4378-A858-36FF3999829F}" dt="2026-09-07T09:32:23.795" v="2467" actId="1076"/>
          <ac:picMkLst>
            <pc:docMk/>
            <pc:sldMk cId="1130776603" sldId="311"/>
            <ac:picMk id="11" creationId="{8821ACE7-C002-DEB2-3E18-2B2303A4B0B3}"/>
          </ac:picMkLst>
        </pc:picChg>
        <pc:picChg chg="del">
          <ac:chgData name="Nat Trask" userId="384e9559073622a4" providerId="LiveId" clId="{BA229D61-2944-4378-A858-36FF3999829F}" dt="2026-09-07T08:54:52.838" v="403" actId="478"/>
          <ac:picMkLst>
            <pc:docMk/>
            <pc:sldMk cId="1130776603" sldId="311"/>
            <ac:picMk id="12" creationId="{FE4D23A1-B02A-731B-F711-29E32955DF41}"/>
          </ac:picMkLst>
        </pc:picChg>
        <pc:picChg chg="add mod">
          <ac:chgData name="Nat Trask" userId="384e9559073622a4" providerId="LiveId" clId="{BA229D61-2944-4378-A858-36FF3999829F}" dt="2026-09-07T09:32:25.364" v="2468" actId="1076"/>
          <ac:picMkLst>
            <pc:docMk/>
            <pc:sldMk cId="1130776603" sldId="311"/>
            <ac:picMk id="14" creationId="{09F14A01-B6D4-6AB9-1230-AFA3B74CEDE7}"/>
          </ac:picMkLst>
        </pc:picChg>
      </pc:sldChg>
      <pc:sldChg chg="modSp add mod ord">
        <pc:chgData name="Nat Trask" userId="384e9559073622a4" providerId="LiveId" clId="{BA229D61-2944-4378-A858-36FF3999829F}" dt="2026-09-07T09:56:34.348" v="2709" actId="20577"/>
        <pc:sldMkLst>
          <pc:docMk/>
          <pc:sldMk cId="2560081251" sldId="312"/>
        </pc:sldMkLst>
        <pc:spChg chg="mod">
          <ac:chgData name="Nat Trask" userId="384e9559073622a4" providerId="LiveId" clId="{BA229D61-2944-4378-A858-36FF3999829F}" dt="2026-09-07T09:56:34.348" v="2709" actId="20577"/>
          <ac:spMkLst>
            <pc:docMk/>
            <pc:sldMk cId="2560081251" sldId="312"/>
            <ac:spMk id="2" creationId="{8B530F10-10DE-280C-F2F6-A0C0BE15B9CA}"/>
          </ac:spMkLst>
        </pc:spChg>
      </pc:sldChg>
      <pc:sldChg chg="modSp add mod">
        <pc:chgData name="Nat Trask" userId="384e9559073622a4" providerId="LiveId" clId="{BA229D61-2944-4378-A858-36FF3999829F}" dt="2026-09-07T10:07:13.940" v="2725" actId="1076"/>
        <pc:sldMkLst>
          <pc:docMk/>
          <pc:sldMk cId="3111948423" sldId="313"/>
        </pc:sldMkLst>
        <pc:picChg chg="mod">
          <ac:chgData name="Nat Trask" userId="384e9559073622a4" providerId="LiveId" clId="{BA229D61-2944-4378-A858-36FF3999829F}" dt="2026-09-07T10:07:13.940" v="2725" actId="1076"/>
          <ac:picMkLst>
            <pc:docMk/>
            <pc:sldMk cId="3111948423" sldId="313"/>
            <ac:picMk id="9" creationId="{9900472C-B851-88EC-D4BF-F9264CAD3C3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7A0BFB-5BFB-493E-90AB-43A362F1229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D9407-72F0-49A3-97A5-A62061E5BD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99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AAC7-0229-8AE0-9ACF-32452E0D3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48139-6F90-5010-58E3-4107F6DCD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2F981-AA6D-FF45-8907-ABA069B81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03572-E0DF-0660-354A-C5AFB8430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556937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C6B-3F47-32FE-7621-FD5507070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A92DC-A4A3-82A7-5208-AEB44D0102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51011-C98E-546A-15D7-18219AA9B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E6047-A810-9A7A-D359-C309598A3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20228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F4007-9740-E979-E759-28120277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E336-F980-F89F-C840-E06324A35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B5CD1-719D-F4C6-A930-80A1DC7E5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8B066-A142-241F-09E9-867F6D397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53539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whole talk around the one question: who owns control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head-to-head cell live if time allows. Expect ReAct to vary run to run; MPC is much more stable because the surrogate does the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965960"/>
            <a:ext cx="110578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1A1A1A"/>
                </a:solidFill>
                <a:latin typeface="Calibri"/>
              </a:rPr>
              <a:t>Foundations of Agentic AI</a:t>
            </a:r>
          </a:p>
          <a:p>
            <a:r>
              <a:rPr sz="4200" b="1">
                <a:solidFill>
                  <a:srgbClr val="1A1A1A"/>
                </a:solidFill>
                <a:latin typeface="Calibri"/>
              </a:rPr>
              <a:t>for Science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79476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AA1E1E"/>
                </a:solidFill>
                <a:latin typeface="Calibri"/>
              </a:rPr>
              <a:t>AESCAPE 2026  ·  Introduction to Agentic Workflows</a:t>
            </a:r>
          </a:p>
          <a:p>
            <a:pPr>
              <a:spcAft>
                <a:spcPts val="300"/>
              </a:spcAft>
            </a:pPr>
            <a:endParaRPr sz="1700" b="0" dirty="0">
              <a:solidFill>
                <a:srgbClr val="AA1E1E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1A1A1A"/>
                </a:solidFill>
                <a:latin typeface="Calibri"/>
              </a:rPr>
              <a:t>Nathaniel Trask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6E6E6E"/>
                </a:solidFill>
                <a:latin typeface="Calibri"/>
              </a:rPr>
              <a:t>University of Pennsylvania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6E6E6E"/>
                </a:solidFill>
                <a:latin typeface="Calibri"/>
              </a:rPr>
              <a:t>September 8,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3675887"/>
            <a:ext cx="3108959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9C3D-6E30-4108-314F-4850D863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88BE0F-99BD-9BFD-740B-BF5CF0B36ADB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7BB62-3F74-0099-33D6-BD874F57F3AF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44751-51AD-FAA1-5386-35D0A623810D}"/>
              </a:ext>
            </a:extLst>
          </p:cNvPr>
          <p:cNvSpPr txBox="1"/>
          <p:nvPr/>
        </p:nvSpPr>
        <p:spPr>
          <a:xfrm>
            <a:off x="566928" y="1078992"/>
            <a:ext cx="11057839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Foundations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 (Trask)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Setting up an API, Agentic frameworks, steering some simple scientific computing workflows</a:t>
            </a:r>
            <a:endParaRPr sz="1700" b="0" dirty="0">
              <a:solidFill>
                <a:srgbClr val="1A1A1A"/>
              </a:solidFill>
              <a:latin typeface="Calibri"/>
            </a:endParaRPr>
          </a:p>
          <a:p>
            <a:r>
              <a:rPr sz="800" dirty="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Advanced topics (Koester)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Constructing a production agentic framework </a:t>
            </a:r>
            <a:endParaRPr sz="1700" b="0" i="1" dirty="0">
              <a:solidFill>
                <a:srgbClr val="1A1A1A"/>
              </a:solidFill>
              <a:latin typeface="Calibri"/>
            </a:endParaRPr>
          </a:p>
          <a:p>
            <a:r>
              <a:rPr sz="800" dirty="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3.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Agentic geometry (Owen)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Incorporating agents into CAD/meshing</a:t>
            </a:r>
            <a:endParaRPr sz="1700" b="0" dirty="0">
              <a:solidFill>
                <a:srgbClr val="1A1A1A"/>
              </a:solidFill>
              <a:latin typeface="Calibri"/>
            </a:endParaRPr>
          </a:p>
          <a:p>
            <a:r>
              <a:rPr sz="800" dirty="0"/>
              <a:t> 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4.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Structures + materials (Bessa)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Using </a:t>
            </a:r>
            <a:r>
              <a:rPr lang="en-US" sz="1700" b="0" i="1" dirty="0">
                <a:solidFill>
                  <a:srgbClr val="1A1A1A"/>
                </a:solidFill>
                <a:latin typeface="Calibri"/>
              </a:rPr>
              <a:t>f3dasm</a:t>
            </a:r>
            <a:r>
              <a:rPr lang="en-US" sz="1700" b="0" dirty="0">
                <a:solidFill>
                  <a:srgbClr val="1A1A1A"/>
                </a:solidFill>
                <a:latin typeface="Calibri"/>
              </a:rPr>
              <a:t> for data-driven design and analysis of structures and materials</a:t>
            </a:r>
            <a:endParaRPr sz="1700" b="0" dirty="0">
              <a:solidFill>
                <a:srgbClr val="1A1A1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7007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74B3-007D-6651-EA57-0362A9DFA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B63AA2-FE8F-D076-E076-CAE54518B07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Background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C0A4B-02F3-7922-9788-2F3B79D4C50A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6B62F-9829-0D20-B2AC-D72F1D735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6" y="786285"/>
            <a:ext cx="3802107" cy="1518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6C62C5-DF80-C649-5601-F74AAF0D8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6" y="2266849"/>
            <a:ext cx="3670065" cy="1518819"/>
          </a:xfrm>
          <a:prstGeom prst="rect">
            <a:avLst/>
          </a:prstGeom>
        </p:spPr>
      </p:pic>
      <p:pic>
        <p:nvPicPr>
          <p:cNvPr id="9" name="Picture 8" descr="Forms response chart. Question title: How familiar are you with machine learning (PyTorch, Jax, Tensorflow, etc). Number of responses: 8 responses.">
            <a:extLst>
              <a:ext uri="{FF2B5EF4-FFF2-40B4-BE49-F238E27FC236}">
                <a16:creationId xmlns:a16="http://schemas.microsoft.com/office/drawing/2014/main" id="{066D57BA-3046-04F9-14FF-1D9342426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73" y="3851339"/>
            <a:ext cx="3615490" cy="1521272"/>
          </a:xfrm>
          <a:prstGeom prst="rect">
            <a:avLst/>
          </a:prstGeom>
        </p:spPr>
      </p:pic>
      <p:pic>
        <p:nvPicPr>
          <p:cNvPr id="10" name="Picture 9" descr="Forms response chart. Question title: What is your background/goals for agentic AI. Number of responses: 8 responses.">
            <a:extLst>
              <a:ext uri="{FF2B5EF4-FFF2-40B4-BE49-F238E27FC236}">
                <a16:creationId xmlns:a16="http://schemas.microsoft.com/office/drawing/2014/main" id="{D7E89231-F49C-403B-4FFE-CDF4184C1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6" y="5266232"/>
            <a:ext cx="3615490" cy="15212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FBBFC7-2582-3F08-7A48-6142DF67B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7322" y="1706731"/>
            <a:ext cx="5692633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6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C1B51-9A65-CA97-0546-B2AD36206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56340-395C-1D12-4256-BDB7BE699D14}"/>
              </a:ext>
            </a:extLst>
          </p:cNvPr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LLMs: chatbots vs API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F09BE-69CF-3DA7-170B-A8868D679A41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5CE427-DC12-1005-64F8-6EFF6A46F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41955"/>
            <a:ext cx="5861785" cy="51740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821ACE7-C002-DEB2-3E18-2B2303A4B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923" y="3350885"/>
            <a:ext cx="5737051" cy="26651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18A339D-F4FC-3EB6-1E81-7C22EBB1C346}"/>
              </a:ext>
            </a:extLst>
          </p:cNvPr>
          <p:cNvSpPr txBox="1"/>
          <p:nvPr/>
        </p:nvSpPr>
        <p:spPr>
          <a:xfrm>
            <a:off x="6366037" y="795743"/>
            <a:ext cx="33723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We will be discussing how to incorporate </a:t>
            </a:r>
            <a:r>
              <a:rPr lang="en-US" b="1" dirty="0">
                <a:solidFill>
                  <a:srgbClr val="C00000"/>
                </a:solidFill>
              </a:rPr>
              <a:t>agentic design patterns </a:t>
            </a:r>
            <a:r>
              <a:rPr lang="en-US" dirty="0">
                <a:solidFill>
                  <a:srgbClr val="C00000"/>
                </a:solidFill>
              </a:rPr>
              <a:t>into your code. This is distinct from using </a:t>
            </a:r>
            <a:r>
              <a:rPr lang="en-US" dirty="0" err="1">
                <a:solidFill>
                  <a:srgbClr val="C00000"/>
                </a:solidFill>
              </a:rPr>
              <a:t>cowork</a:t>
            </a:r>
            <a:r>
              <a:rPr lang="en-US" dirty="0">
                <a:solidFill>
                  <a:srgbClr val="C00000"/>
                </a:solidFill>
              </a:rPr>
              <a:t> or other chat-based GUIs to automate tasks like writing code or generating reports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14" name="Picture 13" descr="Design Patterns: Elements of Reusable Object-Oriented Software: Erich Gamma, Richard Helm, Ralph Johnson, John Vlissides, Grady Booch: 9780201633610: Amazon.com: Books">
            <a:extLst>
              <a:ext uri="{FF2B5EF4-FFF2-40B4-BE49-F238E27FC236}">
                <a16:creationId xmlns:a16="http://schemas.microsoft.com/office/drawing/2014/main" id="{09F14A01-B6D4-6AB9-1230-AFA3B74CE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6116" y="387876"/>
            <a:ext cx="2091858" cy="280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76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0005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70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Foundations.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What an agent is. Tools, schemas, the loop. </a:t>
            </a:r>
            <a:endParaRPr lang="en-US" sz="1700" b="0" dirty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2.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Logging into an API. </a:t>
            </a:r>
            <a:r>
              <a:rPr lang="en-US" sz="1700" dirty="0">
                <a:solidFill>
                  <a:srgbClr val="1A1A1A"/>
                </a:solidFill>
                <a:latin typeface="Calibri"/>
              </a:rPr>
              <a:t>Free Gemini key and accessing other APIs</a:t>
            </a:r>
            <a:endParaRPr sz="800" dirty="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3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 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The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framework zoo.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, graphs (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LangGraph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), conversational multi-agent (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AutoGen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), MPC-style planning — and MCP. </a:t>
            </a:r>
            <a:endParaRPr sz="800" dirty="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4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  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Scientific computing as </a:t>
            </a:r>
            <a:r>
              <a:rPr lang="en-US" sz="1700" b="1" dirty="0">
                <a:solidFill>
                  <a:srgbClr val="1A1A1A"/>
                </a:solidFill>
                <a:latin typeface="Calibri"/>
              </a:rPr>
              <a:t>an exemplar</a:t>
            </a:r>
            <a:r>
              <a:rPr sz="1700" b="1" dirty="0">
                <a:solidFill>
                  <a:srgbClr val="1A1A1A"/>
                </a:solidFill>
                <a:latin typeface="Calibri"/>
              </a:rPr>
              <a:t>.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 </a:t>
            </a:r>
            <a:endParaRPr lang="en-US" sz="1700" b="0" dirty="0">
              <a:solidFill>
                <a:srgbClr val="1A1A1A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/>
              </a:rPr>
              <a:t>	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CAD → mesh → solve → </a:t>
            </a:r>
            <a:r>
              <a:rPr lang="en-US" sz="1700" dirty="0">
                <a:solidFill>
                  <a:srgbClr val="1A1A1A"/>
                </a:solidFill>
              </a:rPr>
              <a:t>postprocess → </a:t>
            </a:r>
            <a:r>
              <a:rPr lang="en-US" sz="1700" dirty="0" err="1">
                <a:solidFill>
                  <a:srgbClr val="1A1A1A"/>
                </a:solidFill>
              </a:rPr>
              <a:t>remesh</a:t>
            </a:r>
            <a:r>
              <a:rPr lang="en-US" sz="1700" dirty="0">
                <a:solidFill>
                  <a:srgbClr val="1A1A1A"/>
                </a:solidFill>
              </a:rPr>
              <a:t> driven purely by agents</a:t>
            </a:r>
          </a:p>
          <a:p>
            <a:pPr marL="285750" indent="-285750">
              <a:lnSpc>
                <a:spcPct val="1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700" b="0" dirty="0">
                <a:solidFill>
                  <a:srgbClr val="1A1A1A"/>
                </a:solidFill>
                <a:latin typeface="Calibri"/>
              </a:rPr>
              <a:t>	trajectory optimization</a:t>
            </a:r>
            <a:endParaRPr sz="1700" b="0" dirty="0">
              <a:solidFill>
                <a:srgbClr val="1A1A1A"/>
              </a:solidFill>
              <a:latin typeface="Calibri"/>
            </a:endParaRPr>
          </a:p>
          <a:p>
            <a:r>
              <a:rPr sz="800" dirty="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5632704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lang="en-US" sz="1500" b="1" dirty="0">
                <a:solidFill>
                  <a:srgbClr val="1A1A1A"/>
                </a:solidFill>
                <a:latin typeface="Calibri"/>
              </a:rPr>
              <a:t>Primary takeaway</a:t>
            </a:r>
            <a:r>
              <a:rPr sz="1500" b="1" dirty="0">
                <a:solidFill>
                  <a:srgbClr val="1A1A1A"/>
                </a:solidFill>
                <a:latin typeface="Calibri"/>
              </a:rPr>
              <a:t>: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 for any given problem, </a:t>
            </a:r>
            <a:r>
              <a:rPr sz="1500" b="1" dirty="0">
                <a:solidFill>
                  <a:srgbClr val="AA1E1E"/>
                </a:solidFill>
                <a:latin typeface="Calibri"/>
              </a:rPr>
              <a:t>which agentic pattern should you reach for, and why?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621B15-815A-C0A0-B93C-93F594F842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310897" y="3629577"/>
            <a:ext cx="6739128" cy="1714699"/>
          </a:xfrm>
          <a:prstGeom prst="rect">
            <a:avLst/>
          </a:prstGeom>
        </p:spPr>
      </p:pic>
      <p:pic>
        <p:nvPicPr>
          <p:cNvPr id="8" name="Picture 7" descr="Ballistic Motion Problem Layout | Download Scientific Diagram">
            <a:extLst>
              <a:ext uri="{FF2B5EF4-FFF2-40B4-BE49-F238E27FC236}">
                <a16:creationId xmlns:a16="http://schemas.microsoft.com/office/drawing/2014/main" id="{68616E95-CB41-F7AC-80F5-4F0E49D261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1979" y="3201382"/>
            <a:ext cx="3912203" cy="2262158"/>
          </a:xfrm>
          <a:prstGeom prst="rect">
            <a:avLst/>
          </a:prstGeom>
        </p:spPr>
      </p:pic>
      <p:sp>
        <p:nvSpPr>
          <p:cNvPr id="9" name="Star: 5 Points 8">
            <a:extLst>
              <a:ext uri="{FF2B5EF4-FFF2-40B4-BE49-F238E27FC236}">
                <a16:creationId xmlns:a16="http://schemas.microsoft.com/office/drawing/2014/main" id="{70958203-0AD6-A217-4163-D4E261095045}"/>
              </a:ext>
            </a:extLst>
          </p:cNvPr>
          <p:cNvSpPr/>
          <p:nvPr/>
        </p:nvSpPr>
        <p:spPr>
          <a:xfrm>
            <a:off x="10259568" y="5001768"/>
            <a:ext cx="219456" cy="201168"/>
          </a:xfrm>
          <a:prstGeom prst="star5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0946F4-1017-6B03-0936-9F25ADC02ABD}"/>
              </a:ext>
            </a:extLst>
          </p:cNvPr>
          <p:cNvSpPr txBox="1"/>
          <p:nvPr/>
        </p:nvSpPr>
        <p:spPr>
          <a:xfrm>
            <a:off x="9832543" y="4679156"/>
            <a:ext cx="646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Target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What is an LLM agent?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>
                <a:solidFill>
                  <a:srgbClr val="1A1A1A"/>
                </a:solidFill>
                <a:latin typeface="Calibri"/>
              </a:rPr>
              <a:t>Agent  =  LLM  +  tools  +  a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7839" cy="20544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 dirty="0">
                <a:solidFill>
                  <a:srgbClr val="1A1A1A"/>
                </a:solidFill>
                <a:latin typeface="Calibri"/>
              </a:rPr>
              <a:t>A </a:t>
            </a:r>
            <a:r>
              <a:rPr lang="en-US" sz="1650" b="0" dirty="0">
                <a:solidFill>
                  <a:srgbClr val="1A1A1A"/>
                </a:solidFill>
                <a:latin typeface="Calibri"/>
              </a:rPr>
              <a:t>traditional</a:t>
            </a:r>
            <a:r>
              <a:rPr sz="1650" b="0" dirty="0">
                <a:solidFill>
                  <a:srgbClr val="1A1A1A"/>
                </a:solidFill>
                <a:latin typeface="Calibri"/>
              </a:rPr>
              <a:t> LLM takes text in, emits text out. </a:t>
            </a:r>
            <a:endParaRPr lang="en-US" sz="165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 dirty="0">
                <a:solidFill>
                  <a:srgbClr val="1A1A1A"/>
                </a:solidFill>
                <a:latin typeface="Calibri"/>
              </a:rPr>
              <a:t>An </a:t>
            </a:r>
            <a:r>
              <a:rPr sz="1650" b="1" dirty="0">
                <a:solidFill>
                  <a:srgbClr val="AA1E1E"/>
                </a:solidFill>
                <a:latin typeface="Calibri"/>
              </a:rPr>
              <a:t>agent</a:t>
            </a:r>
            <a:r>
              <a:rPr sz="1650" b="0" dirty="0">
                <a:solidFill>
                  <a:srgbClr val="1A1A1A"/>
                </a:solidFill>
                <a:latin typeface="Calibri"/>
              </a:rPr>
              <a:t> is an LLM running in a loop with access to </a:t>
            </a:r>
            <a:r>
              <a:rPr sz="1650" b="1" dirty="0">
                <a:solidFill>
                  <a:srgbClr val="AA1E1E"/>
                </a:solidFill>
                <a:latin typeface="Calibri"/>
              </a:rPr>
              <a:t>tools</a:t>
            </a:r>
            <a:r>
              <a:rPr sz="1650" b="0" dirty="0">
                <a:solidFill>
                  <a:srgbClr val="1A1A1A"/>
                </a:solidFill>
                <a:latin typeface="Calibri"/>
              </a:rPr>
              <a:t>: ordinary Python functions it can ask us to run on its behalf.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 dirty="0">
                <a:solidFill>
                  <a:srgbClr val="1A1A1A"/>
                </a:solidFill>
                <a:latin typeface="Calibri"/>
              </a:rPr>
              <a:t>Each turn, the model reads the running conversation and decides to either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emit a final text answer, or</a:t>
            </a:r>
          </a:p>
          <a:p>
            <a:pPr marL="603504" indent="-219456">
              <a:lnSpc>
                <a:spcPct val="100000"/>
              </a:lnSpc>
              <a:spcAft>
                <a:spcPts val="900"/>
              </a:spcAft>
              <a:buClr>
                <a:srgbClr val="6E6E6E"/>
              </a:buClr>
              <a:buFont typeface="Arial"/>
              <a:buChar char="–"/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call a tool with structured arguments.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650" b="0" dirty="0">
                <a:solidFill>
                  <a:srgbClr val="1A1A1A"/>
                </a:solidFill>
                <a:latin typeface="Calibri"/>
              </a:rPr>
              <a:t>When it calls a tool, </a:t>
            </a:r>
            <a:r>
              <a:rPr sz="1650" b="0" i="1" dirty="0">
                <a:solidFill>
                  <a:srgbClr val="1A1A1A"/>
                </a:solidFill>
                <a:latin typeface="Calibri"/>
              </a:rPr>
              <a:t>we</a:t>
            </a:r>
            <a:r>
              <a:rPr sz="1650" b="0" dirty="0">
                <a:solidFill>
                  <a:srgbClr val="1A1A1A"/>
                </a:solidFill>
                <a:latin typeface="Calibri"/>
              </a:rPr>
              <a:t> run the function and feed the result back as the next 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02920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The model never executes anything. It emits a </a:t>
            </a:r>
            <a:r>
              <a:rPr sz="1300" b="0" i="1">
                <a:solidFill>
                  <a:srgbClr val="1A1A1A"/>
                </a:solidFill>
                <a:latin typeface="Calibri"/>
              </a:rPr>
              <a:t>request</a:t>
            </a:r>
            <a:r>
              <a:rPr sz="1300" b="0">
                <a:solidFill>
                  <a:srgbClr val="1A1A1A"/>
                </a:solidFill>
                <a:latin typeface="Calibri"/>
              </a:rPr>
              <a:t>; you stay in control of what actually runs.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lang="en-US" sz="2500" b="1" dirty="0">
                <a:solidFill>
                  <a:srgbClr val="1A1A1A"/>
                </a:solidFill>
                <a:latin typeface="Calibri"/>
              </a:rPr>
              <a:t> as the simplest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0574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dirty="0">
                <a:solidFill>
                  <a:srgbClr val="1A1A1A"/>
                </a:solidFill>
                <a:latin typeface="Calibri"/>
              </a:rPr>
              <a:t>LLM</a:t>
            </a:r>
          </a:p>
          <a:p>
            <a:pPr algn="ctr"/>
            <a:r>
              <a:rPr sz="1150" b="0" dirty="0">
                <a:solidFill>
                  <a:srgbClr val="6E6E6E"/>
                </a:solidFill>
                <a:latin typeface="Calibri"/>
              </a:rPr>
              <a:t>reads messages,</a:t>
            </a:r>
          </a:p>
          <a:p>
            <a:pPr algn="ctr"/>
            <a:r>
              <a:rPr sz="1150" b="0" dirty="0">
                <a:solidFill>
                  <a:srgbClr val="6E6E6E"/>
                </a:solidFill>
                <a:latin typeface="Calibri"/>
              </a:rPr>
              <a:t>emits text </a:t>
            </a:r>
            <a:r>
              <a:rPr sz="1150" b="1" dirty="0">
                <a:solidFill>
                  <a:srgbClr val="6E6E6E"/>
                </a:solidFill>
                <a:latin typeface="Calibri"/>
              </a:rPr>
              <a:t>or</a:t>
            </a:r>
            <a:r>
              <a:rPr sz="1150" b="0" dirty="0">
                <a:solidFill>
                  <a:srgbClr val="6E6E6E"/>
                </a:solidFill>
                <a:latin typeface="Calibri"/>
              </a:rPr>
              <a:t> tool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331720"/>
            <a:ext cx="301752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Python functions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we control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74920" y="26060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5074920" y="3291840"/>
            <a:ext cx="201168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92040" y="199339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function_call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(name, args)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0156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result (dict)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appended as observation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05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when the model stops calling tools, it emits a final text answer and the loop exits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This is </a:t>
            </a:r>
            <a:r>
              <a:rPr sz="1600" b="1">
                <a:solidFill>
                  <a:srgbClr val="AA1E1E"/>
                </a:solidFill>
                <a:latin typeface="Calibri"/>
              </a:rPr>
              <a:t>ReAct</a:t>
            </a:r>
            <a:r>
              <a:rPr sz="1600" b="0">
                <a:solidFill>
                  <a:srgbClr val="1A1A1A"/>
                </a:solidFill>
                <a:latin typeface="Calibri"/>
              </a:rPr>
              <a:t> (Reason + Act), Yao et al. 2022 — the simplest agent there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Tool syntax and specification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 dirty="0">
                <a:solidFill>
                  <a:srgbClr val="1A1A1A"/>
                </a:solidFill>
                <a:latin typeface="Calibri"/>
              </a:rPr>
              <a:t>Two 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pieces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: a Python function, and a JSON-schema description of its signature that you hand to the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6E6E6E"/>
                </a:solidFill>
                <a:latin typeface="Calibri"/>
              </a:rPr>
              <a:t>Python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10512"/>
            <a:ext cx="5394960" cy="10154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calculator(op, a, b):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ops = {</a:t>
            </a:r>
            <a:r>
              <a:rPr sz="1150" i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+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- b,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"mul"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* b, </a:t>
            </a:r>
            <a:r>
              <a:rPr sz="1150" i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>
                <a:solidFill>
                  <a:srgbClr val="1A1A1A"/>
                </a:solidFill>
                <a:latin typeface="Consolas"/>
              </a:rPr>
              <a:t>: a / b}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150" i="0">
                <a:solidFill>
                  <a:srgbClr val="1A1A1A"/>
                </a:solidFill>
                <a:latin typeface="Consolas"/>
              </a:rPr>
              <a:t>: ops[op]}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536192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dirty="0">
                <a:solidFill>
                  <a:srgbClr val="6E6E6E"/>
                </a:solidFill>
                <a:latin typeface="Calibri"/>
              </a:rPr>
              <a:t>JSON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10512"/>
            <a:ext cx="5394960" cy="215468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{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"name"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"description"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lang="en-US" sz="1150" i="0" dirty="0">
                <a:solidFill>
                  <a:srgbClr val="8C3C14"/>
                </a:solidFill>
                <a:latin typeface="Consolas"/>
              </a:rPr>
              <a:t>Evaluate a single arithmetic operation</a:t>
            </a:r>
            <a:endParaRPr sz="1150" i="0" dirty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"parameters"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"object"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"properties"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{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"op"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"string"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 err="1">
                <a:solidFill>
                  <a:srgbClr val="8C3C14"/>
                </a:solidFill>
                <a:latin typeface="Consolas"/>
              </a:rPr>
              <a:t>enum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"add"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"sub"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 err="1">
                <a:solidFill>
                  <a:srgbClr val="8C3C14"/>
                </a:solidFill>
                <a:latin typeface="Consolas"/>
              </a:rPr>
              <a:t>mul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,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"div"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]},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},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"b"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{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"type"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"number"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}},</a:t>
            </a:r>
          </a:p>
          <a:p>
            <a:pPr algn="l">
              <a:lnSpc>
                <a:spcPct val="106000"/>
              </a:lnSpc>
            </a:pPr>
            <a:r>
              <a:rPr sz="1150" i="0" dirty="0">
                <a:solidFill>
                  <a:srgbClr val="1A1A1A"/>
                </a:solidFill>
                <a:latin typeface="Consolas"/>
              </a:rPr>
              <a:t>   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"required"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: [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 err="1">
                <a:solidFill>
                  <a:srgbClr val="8C3C14"/>
                </a:solidFill>
                <a:latin typeface="Consolas"/>
              </a:rPr>
              <a:t>op"</a:t>
            </a:r>
            <a:r>
              <a:rPr sz="1150" i="0" dirty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dirty="0" err="1">
                <a:solidFill>
                  <a:srgbClr val="8C3C14"/>
                </a:solidFill>
                <a:latin typeface="Consolas"/>
              </a:rPr>
              <a:t>"a"</a:t>
            </a:r>
            <a:r>
              <a:rPr sz="1150" i="0" dirty="0" err="1">
                <a:solidFill>
                  <a:srgbClr val="1A1A1A"/>
                </a:solidFill>
                <a:latin typeface="Consolas"/>
              </a:rPr>
              <a:t>,</a:t>
            </a:r>
            <a:r>
              <a:rPr sz="1150" i="0" dirty="0" err="1">
                <a:solidFill>
                  <a:srgbClr val="8C3C14"/>
                </a:solidFill>
                <a:latin typeface="Consolas"/>
              </a:rPr>
              <a:t>"b</a:t>
            </a:r>
            <a:r>
              <a:rPr sz="1150" i="0" dirty="0">
                <a:solidFill>
                  <a:srgbClr val="8C3C14"/>
                </a:solidFill>
                <a:latin typeface="Consolas"/>
              </a:rPr>
              <a:t>"</a:t>
            </a:r>
            <a:r>
              <a:rPr sz="1150" i="0" dirty="0">
                <a:solidFill>
                  <a:srgbClr val="1A1A1A"/>
                </a:solidFill>
                <a:latin typeface="Consolas"/>
              </a:rPr>
              <a:t>]}}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11057839" cy="977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 dirty="0">
                <a:solidFill>
                  <a:srgbClr val="1A1A1A"/>
                </a:solidFill>
                <a:latin typeface="Consolas"/>
              </a:rPr>
              <a:t>name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250" b="0" dirty="0">
                <a:solidFill>
                  <a:srgbClr val="1A1A1A"/>
                </a:solidFill>
                <a:latin typeface="Consolas"/>
              </a:rPr>
              <a:t>description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— decide whether the model picks </a:t>
            </a:r>
            <a:r>
              <a:rPr sz="1400" b="0" i="1" dirty="0">
                <a:solidFill>
                  <a:srgbClr val="1A1A1A"/>
                </a:solidFill>
                <a:latin typeface="Calibri"/>
              </a:rPr>
              <a:t>this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tool over the others. This is prompt engineering; 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use this to provide the model with plain English context to help it understand how the tool is meant to function.</a:t>
            </a:r>
            <a:endParaRPr sz="140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250" b="0" dirty="0">
                <a:solidFill>
                  <a:srgbClr val="1A1A1A"/>
                </a:solidFill>
                <a:latin typeface="Consolas"/>
              </a:rPr>
              <a:t>properties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— the typed argument list. </a:t>
            </a:r>
            <a:r>
              <a:rPr sz="1250" b="0" dirty="0" err="1">
                <a:solidFill>
                  <a:srgbClr val="1A1A1A"/>
                </a:solidFill>
                <a:latin typeface="Consolas"/>
              </a:rPr>
              <a:t>enum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restricts a string to a fixed set. Constrain aggressively: 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by forcing the model to only process inputs of a given type, you are keeping the Agent from doing something unexpected. For example – the above won’t attempt to add a string to a number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round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turn, the model emits either plain text (final answer) or a structured tool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1.</a:t>
            </a:r>
            <a:r>
              <a:rPr sz="1450" b="0">
                <a:solidFill>
                  <a:srgbClr val="1A1A1A"/>
                </a:solidFill>
                <a:latin typeface="Calibri"/>
              </a:rPr>
              <a:t>  The reply contains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function_call</a:t>
            </a:r>
            <a:r>
              <a:rPr sz="1450" b="0">
                <a:solidFill>
                  <a:srgbClr val="1A1A1A"/>
                </a:solidFill>
                <a:latin typeface="Calibri"/>
              </a:rPr>
              <a:t> part: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11057839" cy="8503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response.candidates[0].content.parts[0].function_call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.name = 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.args = {</a:t>
            </a:r>
            <a:r>
              <a:rPr sz="1200" i="0">
                <a:solidFill>
                  <a:srgbClr val="8C3C14"/>
                </a:solidFill>
                <a:latin typeface="Consolas"/>
              </a:rPr>
              <a:t>"op"</a:t>
            </a:r>
            <a:r>
              <a:rPr sz="1200" i="0">
                <a:solidFill>
                  <a:srgbClr val="1A1A1A"/>
                </a:solidFill>
                <a:latin typeface="Consolas"/>
              </a:rPr>
              <a:t>: </a:t>
            </a:r>
            <a:r>
              <a:rPr sz="1200" i="0">
                <a:solidFill>
                  <a:srgbClr val="8C3C14"/>
                </a:solidFill>
                <a:latin typeface="Consolas"/>
              </a:rPr>
              <a:t>"mul"</a:t>
            </a:r>
            <a:r>
              <a:rPr sz="1200" i="0">
                <a:solidFill>
                  <a:srgbClr val="1A1A1A"/>
                </a:solidFill>
                <a:latin typeface="Consolas"/>
              </a:rPr>
              <a:t>, </a:t>
            </a:r>
            <a:r>
              <a:rPr sz="1200" i="0">
                <a:solidFill>
                  <a:srgbClr val="8C3C14"/>
                </a:solidFill>
                <a:latin typeface="Consolas"/>
              </a:rPr>
              <a:t>"a"</a:t>
            </a:r>
            <a:r>
              <a:rPr sz="1200" i="0">
                <a:solidFill>
                  <a:srgbClr val="1A1A1A"/>
                </a:solidFill>
                <a:latin typeface="Consolas"/>
              </a:rPr>
              <a:t>: 13, </a:t>
            </a:r>
            <a:r>
              <a:rPr sz="1200" i="0">
                <a:solidFill>
                  <a:srgbClr val="8C3C14"/>
                </a:solidFill>
                <a:latin typeface="Consolas"/>
              </a:rPr>
              <a:t>"b"</a:t>
            </a:r>
            <a:r>
              <a:rPr sz="1200" i="0">
                <a:solidFill>
                  <a:srgbClr val="1A1A1A"/>
                </a:solidFill>
                <a:latin typeface="Consolas"/>
              </a:rPr>
              <a:t>: 47}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9923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2.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dispatch by name and run the Python function: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46704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result = tool_fns[name](**args)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-&gt; {"result": 611}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4164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3.</a:t>
            </a:r>
            <a:r>
              <a:rPr sz="1450" b="0">
                <a:solidFill>
                  <a:srgbClr val="1A1A1A"/>
                </a:solidFill>
                <a:latin typeface="Calibri"/>
              </a:rPr>
              <a:t>  We send the result back as a </a:t>
            </a:r>
            <a:r>
              <a:rPr sz="1300" b="0">
                <a:solidFill>
                  <a:srgbClr val="1A1A1A"/>
                </a:solidFill>
                <a:latin typeface="Consolas"/>
              </a:rPr>
              <a:t>function_response</a:t>
            </a:r>
            <a:r>
              <a:rPr sz="1450" b="0">
                <a:solidFill>
                  <a:srgbClr val="1A1A1A"/>
                </a:solidFill>
                <a:latin typeface="Calibri"/>
              </a:rPr>
              <a:t> on the next turn: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89120"/>
            <a:ext cx="11057839" cy="45415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Part.from_function_response(name=</a:t>
            </a:r>
            <a:r>
              <a:rPr sz="1200" i="0">
                <a:solidFill>
                  <a:srgbClr val="8C3C14"/>
                </a:solidFill>
                <a:latin typeface="Consolas"/>
              </a:rPr>
              <a:t>"calculator"</a:t>
            </a:r>
            <a:r>
              <a:rPr sz="1200" i="0">
                <a:solidFill>
                  <a:srgbClr val="1A1A1A"/>
                </a:solidFill>
                <a:latin typeface="Consolas"/>
              </a:rPr>
              <a:t>, response={</a:t>
            </a:r>
            <a:r>
              <a:rPr sz="1200" i="0">
                <a:solidFill>
                  <a:srgbClr val="8C3C14"/>
                </a:solidFill>
                <a:latin typeface="Consolas"/>
              </a:rPr>
              <a:t>"result"</a:t>
            </a:r>
            <a:r>
              <a:rPr sz="1200" i="0">
                <a:solidFill>
                  <a:srgbClr val="1A1A1A"/>
                </a:solidFill>
                <a:latin typeface="Consolas"/>
              </a:rPr>
              <a:t>: 611})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model then sees its own call, the result, and decides whether to call another tool or stop.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Two slots: system_prompt vs user_prompt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1">
                <a:solidFill>
                  <a:srgbClr val="AA1E1E"/>
                </a:solidFill>
                <a:latin typeface="Calibri"/>
              </a:rPr>
              <a:t>system_prompt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the </a:t>
            </a:r>
            <a:r>
              <a:rPr sz="1550" b="0" i="1">
                <a:solidFill>
                  <a:srgbClr val="1A1A1A"/>
                </a:solidFill>
                <a:latin typeface="Calibri"/>
              </a:rPr>
              <a:t>rules of the game</a:t>
            </a:r>
            <a:r>
              <a:rPr sz="1550" b="0">
                <a:solidFill>
                  <a:srgbClr val="1A1A1A"/>
                </a:solidFill>
                <a:latin typeface="Calibri"/>
              </a:rPr>
              <a:t>. Identity, methodology, what the tools are for, budgets, how to stop. Sent on every turn as a persistent header; never drowned out as observations pile up.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1">
                <a:solidFill>
                  <a:srgbClr val="AA1E1E"/>
                </a:solidFill>
                <a:latin typeface="Calibri"/>
              </a:rPr>
              <a:t>user_prompt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the </a:t>
            </a:r>
            <a:r>
              <a:rPr sz="1550" b="0" i="1">
                <a:solidFill>
                  <a:srgbClr val="1A1A1A"/>
                </a:solidFill>
                <a:latin typeface="Calibri"/>
              </a:rPr>
              <a:t>specific ask</a:t>
            </a:r>
            <a:r>
              <a:rPr sz="1550" b="0">
                <a:solidFill>
                  <a:srgbClr val="1A1A1A"/>
                </a:solidFill>
                <a:latin typeface="Calibri"/>
              </a:rPr>
              <a:t> that triggers this run. Becomes the first message; tool calls and observations append after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017520"/>
            <a:ext cx="11057839" cy="12466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B1_SYSTEM = </a:t>
            </a:r>
            <a:r>
              <a:rPr sz="1200" i="0">
                <a:solidFill>
                  <a:srgbClr val="8C3C14"/>
                </a:solidFill>
                <a:latin typeface="Consolas"/>
              </a:rPr>
              <a:t>""</a:t>
            </a:r>
            <a:r>
              <a:rPr sz="1200" i="0">
                <a:solidFill>
                  <a:srgbClr val="1A1A1A"/>
                </a:solidFill>
                <a:latin typeface="Consolas"/>
              </a:rPr>
              <a:t>"You optimize a black-box function (angle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degrees,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(0,90))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returning a range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meters. Budget: at most 12 evaluate() calls. Use history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helpful, then call propose_answer </a:t>
            </a:r>
            <a:r>
              <a:rPr sz="1200" i="0">
                <a:solidFill>
                  <a:srgbClr val="005AA0"/>
                </a:solidFill>
                <a:latin typeface="Consolas"/>
              </a:rPr>
              <a:t>with</a:t>
            </a:r>
            <a:r>
              <a:rPr sz="1200" i="0">
                <a:solidFill>
                  <a:srgbClr val="1A1A1A"/>
                </a:solidFill>
                <a:latin typeface="Consolas"/>
              </a:rPr>
              <a:t> your guess.</a:t>
            </a:r>
            <a:r>
              <a:rPr sz="1200" i="0">
                <a:solidFill>
                  <a:srgbClr val="8C3C14"/>
                </a:solidFill>
                <a:latin typeface="Consolas"/>
              </a:rPr>
              <a:t>""</a:t>
            </a:r>
            <a:r>
              <a:rPr sz="1200" i="0">
                <a:solidFill>
                  <a:srgbClr val="1A1A1A"/>
                </a:solidFill>
                <a:latin typeface="Consolas"/>
              </a:rPr>
              <a:t>"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B1_USER = </a:t>
            </a:r>
            <a:r>
              <a:rPr sz="1200" i="0">
                <a:solidFill>
                  <a:srgbClr val="8C3C14"/>
                </a:solidFill>
                <a:latin typeface="Consolas"/>
              </a:rPr>
              <a:t>"Find the optimal angle. Budget: 12 evaluations."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Rule of thumb: durable rules about </a:t>
            </a:r>
            <a:r>
              <a:rPr sz="1300" b="0" i="1">
                <a:solidFill>
                  <a:srgbClr val="1A1A1A"/>
                </a:solidFill>
                <a:latin typeface="Calibri"/>
              </a:rPr>
              <a:t>how to behave</a:t>
            </a:r>
            <a:r>
              <a:rPr sz="1300" b="0">
                <a:solidFill>
                  <a:srgbClr val="1A1A1A"/>
                </a:solidFill>
                <a:latin typeface="Calibri"/>
              </a:rPr>
              <a:t> go in the system prompt; the specific </a:t>
            </a:r>
            <a:r>
              <a:rPr sz="1300" b="0" i="1">
                <a:solidFill>
                  <a:srgbClr val="1A1A1A"/>
                </a:solidFill>
                <a:latin typeface="Calibri"/>
              </a:rPr>
              <a:t>thing to do this run</a:t>
            </a:r>
            <a:r>
              <a:rPr sz="1300" b="0">
                <a:solidFill>
                  <a:srgbClr val="1A1A1A"/>
                </a:solidFill>
                <a:latin typeface="Calibri"/>
              </a:rPr>
              <a:t> goes in the user prompt.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Errors are observations, not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83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Tool calls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will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fail. 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For example: </a:t>
            </a:r>
            <a:r>
              <a:rPr lang="en-US" sz="1550" dirty="0">
                <a:solidFill>
                  <a:srgbClr val="1A1A1A"/>
                </a:solidFill>
                <a:latin typeface="Calibri"/>
              </a:rPr>
              <a:t>t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he model invents an argument, asks for a mesh ID that does not exist, passes a string where you wanted a float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, or otherwise hallucinates something crazy.</a:t>
            </a:r>
            <a:endParaRPr lang="en-US" sz="1550" dirty="0">
              <a:solidFill>
                <a:srgbClr val="1A1A1A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lang="en-US" sz="1550" b="0" dirty="0">
                <a:solidFill>
                  <a:srgbClr val="1A1A1A"/>
                </a:solidFill>
                <a:latin typeface="Calibri"/>
              </a:rPr>
              <a:t>Proper error catching is </a:t>
            </a:r>
            <a:r>
              <a:rPr lang="en-US" sz="1550" b="1" dirty="0">
                <a:solidFill>
                  <a:srgbClr val="1A1A1A"/>
                </a:solidFill>
                <a:latin typeface="Calibri"/>
              </a:rPr>
              <a:t>crucial</a:t>
            </a:r>
            <a:r>
              <a:rPr lang="en-US" sz="1550" dirty="0">
                <a:solidFill>
                  <a:srgbClr val="1A1A1A"/>
                </a:solidFill>
                <a:latin typeface="Calibri"/>
              </a:rPr>
              <a:t> to indicate whether the tool executed incorrectly. </a:t>
            </a:r>
            <a:endParaRPr sz="155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67080" y="2321306"/>
            <a:ext cx="11057839" cy="10815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try</a:t>
            </a:r>
            <a:r>
              <a:rPr sz="125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result = tool_fns[name](**args)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except</a:t>
            </a:r>
            <a:r>
              <a:rPr sz="1250" i="0">
                <a:solidFill>
                  <a:srgbClr val="1A1A1A"/>
                </a:solidFill>
                <a:latin typeface="Consolas"/>
              </a:rPr>
              <a:t> Exception </a:t>
            </a:r>
            <a:r>
              <a:rPr sz="1250" i="0">
                <a:solidFill>
                  <a:srgbClr val="005AA0"/>
                </a:solidFill>
                <a:latin typeface="Consolas"/>
              </a:rPr>
              <a:t>as</a:t>
            </a:r>
            <a:r>
              <a:rPr sz="1250" i="0">
                <a:solidFill>
                  <a:srgbClr val="1A1A1A"/>
                </a:solidFill>
                <a:latin typeface="Consolas"/>
              </a:rPr>
              <a:t> e: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result = {</a:t>
            </a:r>
            <a:r>
              <a:rPr sz="12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250" i="0">
                <a:solidFill>
                  <a:srgbClr val="1A1A1A"/>
                </a:solidFill>
                <a:latin typeface="Consolas"/>
              </a:rPr>
              <a:t>: f</a:t>
            </a:r>
            <a:r>
              <a:rPr sz="1250" i="0">
                <a:solidFill>
                  <a:srgbClr val="8C3C14"/>
                </a:solidFill>
                <a:latin typeface="Consolas"/>
              </a:rPr>
              <a:t>"{type(e).__name__}: {e}"</a:t>
            </a:r>
            <a:r>
              <a:rPr sz="125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7080" y="3738626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model reads the error on the next turn and, with a reasonable prompt, retries with correct arguments.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7080" y="4744466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400" b="1" dirty="0">
                <a:solidFill>
                  <a:srgbClr val="1A1A1A"/>
                </a:solidFill>
                <a:latin typeface="Calibri"/>
              </a:rPr>
              <a:t>You will see this happen live today.</a:t>
            </a:r>
            <a:r>
              <a:rPr sz="1400" b="0" dirty="0">
                <a:solidFill>
                  <a:srgbClr val="1A1A1A"/>
                </a:solidFill>
                <a:latin typeface="Calibri"/>
              </a:rPr>
              <a:t>  </a:t>
            </a:r>
            <a:r>
              <a:rPr lang="en-US" sz="1400" b="0" dirty="0">
                <a:solidFill>
                  <a:srgbClr val="1A1A1A"/>
                </a:solidFill>
                <a:latin typeface="Calibri"/>
              </a:rPr>
              <a:t>If a tool fails, the LLM can diagnose why and propose a next step if the exception provides sufficient information so exceptions are </a:t>
            </a:r>
            <a:r>
              <a:rPr lang="en-US" sz="1400" b="1" dirty="0">
                <a:solidFill>
                  <a:srgbClr val="1A1A1A"/>
                </a:solidFill>
                <a:latin typeface="Calibri"/>
              </a:rPr>
              <a:t>desirable behavior</a:t>
            </a:r>
            <a:r>
              <a:rPr lang="en-US" sz="1400" dirty="0">
                <a:solidFill>
                  <a:srgbClr val="1A1A1A"/>
                </a:solidFill>
                <a:latin typeface="Calibri"/>
              </a:rPr>
              <a:t>. The bigger issue is tools which generate reasonable output with no exception to indicate something went wrong</a:t>
            </a:r>
            <a:endParaRPr sz="14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whole thing, in 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188720"/>
            <a:ext cx="11057839" cy="347548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300" i="0">
                <a:solidFill>
                  <a:srgbClr val="005AA0"/>
                </a:solidFill>
                <a:latin typeface="Consolas"/>
              </a:rPr>
              <a:t>def</a:t>
            </a:r>
            <a:r>
              <a:rPr sz="1300" i="0">
                <a:solidFill>
                  <a:srgbClr val="1A1A1A"/>
                </a:solidFill>
                <a:latin typeface="Consolas"/>
              </a:rPr>
              <a:t> run_agent(system_prompt, user_prompt, tool_schemas, tool_fns, max_steps=12):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messages = [user_prompt]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for</a:t>
            </a:r>
            <a:r>
              <a:rPr sz="1300" i="0">
                <a:solidFill>
                  <a:srgbClr val="1A1A1A"/>
                </a:solidFill>
                <a:latin typeface="Consolas"/>
              </a:rPr>
              <a:t> step </a:t>
            </a:r>
            <a:r>
              <a:rPr sz="1300" i="0">
                <a:solidFill>
                  <a:srgbClr val="005AA0"/>
                </a:solidFill>
                <a:latin typeface="Consolas"/>
              </a:rPr>
              <a:t>in</a:t>
            </a:r>
            <a:r>
              <a:rPr sz="1300" i="0">
                <a:solidFill>
                  <a:srgbClr val="1A1A1A"/>
                </a:solidFill>
                <a:latin typeface="Consolas"/>
              </a:rPr>
              <a:t> range(max_steps):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response = llm(system_prompt, messages, tools=tool_schemas)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messages.append(response)</a:t>
            </a:r>
          </a:p>
          <a:p>
            <a:pPr algn="l">
              <a:lnSpc>
                <a:spcPct val="106000"/>
              </a:lnSpc>
            </a:pPr>
            <a:endParaRPr sz="13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if</a:t>
            </a:r>
            <a:r>
              <a:rPr sz="1300" i="0">
                <a:solidFill>
                  <a:srgbClr val="1A1A1A"/>
                </a:solidFill>
                <a:latin typeface="Consolas"/>
              </a:rPr>
              <a:t> response.is_tool_call: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for</a:t>
            </a:r>
            <a:r>
              <a:rPr sz="1300" i="0">
                <a:solidFill>
                  <a:srgbClr val="1A1A1A"/>
                </a:solidFill>
                <a:latin typeface="Consolas"/>
              </a:rPr>
              <a:t> call </a:t>
            </a:r>
            <a:r>
              <a:rPr sz="1300" i="0">
                <a:solidFill>
                  <a:srgbClr val="005AA0"/>
                </a:solidFill>
                <a:latin typeface="Consolas"/>
              </a:rPr>
              <a:t>in</a:t>
            </a:r>
            <a:r>
              <a:rPr sz="1300" i="0">
                <a:solidFill>
                  <a:srgbClr val="1A1A1A"/>
                </a:solidFill>
                <a:latin typeface="Consolas"/>
              </a:rPr>
              <a:t> response.tool_calls: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try</a:t>
            </a:r>
            <a:r>
              <a:rPr sz="130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        result = tool_fns[call.name](**call.args)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except</a:t>
            </a:r>
            <a:r>
              <a:rPr sz="1300" i="0">
                <a:solidFill>
                  <a:srgbClr val="1A1A1A"/>
                </a:solidFill>
                <a:latin typeface="Consolas"/>
              </a:rPr>
              <a:t> Exception </a:t>
            </a:r>
            <a:r>
              <a:rPr sz="1300" i="0">
                <a:solidFill>
                  <a:srgbClr val="005AA0"/>
                </a:solidFill>
                <a:latin typeface="Consolas"/>
              </a:rPr>
              <a:t>as</a:t>
            </a:r>
            <a:r>
              <a:rPr sz="1300" i="0">
                <a:solidFill>
                  <a:srgbClr val="1A1A1A"/>
                </a:solidFill>
                <a:latin typeface="Consolas"/>
              </a:rPr>
              <a:t> e: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        result = {</a:t>
            </a:r>
            <a:r>
              <a:rPr sz="130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300" i="0">
                <a:solidFill>
                  <a:srgbClr val="1A1A1A"/>
                </a:solidFill>
                <a:latin typeface="Consolas"/>
              </a:rPr>
              <a:t>: str(e)}      </a:t>
            </a:r>
            <a:r>
              <a:rPr sz="1300" i="1">
                <a:solidFill>
                  <a:srgbClr val="787878"/>
                </a:solidFill>
                <a:latin typeface="Consolas"/>
              </a:rPr>
              <a:t># errors are observations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    messages.append(result)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else</a:t>
            </a:r>
            <a:r>
              <a:rPr sz="130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30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3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300" i="0">
                <a:solidFill>
                  <a:srgbClr val="1A1A1A"/>
                </a:solidFill>
                <a:latin typeface="Consolas"/>
              </a:rPr>
              <a:t> response.text                    </a:t>
            </a:r>
            <a:r>
              <a:rPr sz="1300" i="1">
                <a:solidFill>
                  <a:srgbClr val="787878"/>
                </a:solidFill>
                <a:latin typeface="Consolas"/>
              </a:rPr>
              <a:t># final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0749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That is a complete agent. Everything else in this talk is a variation on </a:t>
            </a:r>
            <a:r>
              <a:rPr sz="1700" b="1">
                <a:solidFill>
                  <a:srgbClr val="AA1E1E"/>
                </a:solidFill>
                <a:latin typeface="Calibri"/>
              </a:rPr>
              <a:t>who decides what happens next</a:t>
            </a:r>
            <a:r>
              <a:rPr sz="17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Guardrails belong in the tool, not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0" dirty="0">
                <a:solidFill>
                  <a:srgbClr val="1A1A1A"/>
                </a:solidFill>
                <a:latin typeface="Calibri"/>
              </a:rPr>
              <a:t>A prompt is a request</a:t>
            </a:r>
            <a:r>
              <a:rPr lang="en-US" sz="1600" dirty="0">
                <a:solidFill>
                  <a:srgbClr val="1A1A1A"/>
                </a:solidFill>
                <a:latin typeface="Calibri"/>
              </a:rPr>
              <a:t> that the LLM is free to ignore. We can build guarantees into the tool if </a:t>
            </a:r>
            <a:endParaRPr sz="1600" b="0" dirty="0">
              <a:solidFill>
                <a:srgbClr val="1A1A1A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83080"/>
          <a:ext cx="11057838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23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347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A1A1A"/>
                          </a:solidFill>
                          <a:latin typeface="Calibri"/>
                        </a:rPr>
                        <a:t>Hope  (prompt)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A1A1A"/>
                          </a:solidFill>
                          <a:latin typeface="Calibri"/>
                        </a:rPr>
                        <a:t>Guarantee  (tool)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“don’t refine past 20k DOFs”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onsolas"/>
                        </a:rPr>
                        <a:t>if new_dofs &gt; MAX_DOFS: return {"error": ...}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“use at most 12 evaluations”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counter in the tool; refuse call 13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“don’t touch the boundary”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the tool has no boundary argument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“stop when converged”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onsolas"/>
                        </a:rPr>
                        <a:t>stop()</a:t>
                      </a:r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 is the only terminal tool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77639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Anything you would be unwilling to let a nondeterministic process do, </a:t>
            </a:r>
            <a:r>
              <a:rPr sz="1500" b="1">
                <a:solidFill>
                  <a:srgbClr val="AA1E1E"/>
                </a:solidFill>
                <a:latin typeface="Calibri"/>
              </a:rPr>
              <a:t>make impossible in the tool signature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do not ask nicely in English.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This is the single highest-leverage habit for making agentic workflows safe enough to run unattended.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CDD43-3CAC-F1F9-2D9D-23058302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30F10-10DE-280C-F2F6-A0C0BE15B9CA}"/>
              </a:ext>
            </a:extLst>
          </p:cNvPr>
          <p:cNvSpPr txBox="1"/>
          <p:nvPr/>
        </p:nvSpPr>
        <p:spPr>
          <a:xfrm>
            <a:off x="566928" y="2651760"/>
            <a:ext cx="11057839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800" b="1" dirty="0">
                <a:solidFill>
                  <a:srgbClr val="1A1A1A"/>
                </a:solidFill>
                <a:latin typeface="Calibri"/>
              </a:rPr>
              <a:t>Setting up your API</a:t>
            </a:r>
            <a:endParaRPr sz="3800" b="1" dirty="0">
              <a:solidFill>
                <a:srgbClr val="1A1A1A"/>
              </a:solidFill>
              <a:latin typeface="Calibri"/>
            </a:endParaRPr>
          </a:p>
          <a:p>
            <a:pPr algn="ctr">
              <a:spcBef>
                <a:spcPts val="1000"/>
              </a:spcBef>
            </a:pPr>
            <a:r>
              <a:rPr lang="en-US" sz="1700" b="0" dirty="0">
                <a:solidFill>
                  <a:srgbClr val="6E6E6E"/>
                </a:solidFill>
                <a:latin typeface="Calibri"/>
              </a:rPr>
              <a:t>Free Gemini API key</a:t>
            </a:r>
            <a:endParaRPr sz="1700" b="0" dirty="0">
              <a:solidFill>
                <a:srgbClr val="6E6E6E"/>
              </a:solidFill>
              <a:latin typeface="Calibri"/>
            </a:endParaRP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BD98D3B-2DE1-68AC-68CC-75A72CE0727F}"/>
              </a:ext>
            </a:extLst>
          </p:cNvPr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081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Setup: getting a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Free, no credit card.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Google AI Studio: aistudio.google.com/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Sign in with any Google account. Use a project where billing has </a:t>
            </a:r>
            <a:r>
              <a:rPr sz="1550" b="0" i="1" dirty="0">
                <a:solidFill>
                  <a:srgbClr val="1A1A1A"/>
                </a:solidFill>
                <a:latin typeface="Calibri"/>
              </a:rPr>
              <a:t>never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been enabled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to make sure you are not charged accidentally.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2.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Bring your own.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Anthropic (console.anthropic.com) or OpenAI (platform.openai.com/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-keys) both work.</a:t>
            </a: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3.  In 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Colab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: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Secrets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panel (key icon, left sidebar), add </a:t>
            </a:r>
            <a:r>
              <a:rPr sz="1400" b="0" dirty="0">
                <a:solidFill>
                  <a:srgbClr val="1A1A1A"/>
                </a:solidFill>
                <a:latin typeface="Consolas"/>
              </a:rPr>
              <a:t>GEMINI_API_KEY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</a:t>
            </a:r>
            <a:endParaRPr sz="1400" b="0" dirty="0">
              <a:solidFill>
                <a:srgbClr val="1A1A1A"/>
              </a:solidFill>
              <a:latin typeface="Consolas"/>
            </a:endParaRPr>
          </a:p>
          <a:p>
            <a:r>
              <a:rPr sz="700" dirty="0"/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5" y="2471681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Never paste a key into a notebook cell.</a:t>
            </a:r>
            <a:r>
              <a:rPr sz="1300" b="0">
                <a:solidFill>
                  <a:srgbClr val="1A1A1A"/>
                </a:solidFill>
                <a:latin typeface="Calibri"/>
              </a:rPr>
              <a:t>  It ends up in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.ipynb</a:t>
            </a:r>
            <a:r>
              <a:rPr sz="1300" b="0">
                <a:solidFill>
                  <a:srgbClr val="1A1A1A"/>
                </a:solidFill>
                <a:latin typeface="Calibri"/>
              </a:rPr>
              <a:t> JSON, in your shell history, and in git. Use the secrets panel or an environment variable.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01728C-AE01-C627-9F89-AC5159002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46" y="3749485"/>
            <a:ext cx="5468486" cy="24250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8BC927-6F3D-0841-BE77-603F25E5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344" y="3325778"/>
            <a:ext cx="5930710" cy="34682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EA6D-7DEC-61E2-DD9E-BBCB8F2A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EBAD55-561E-F547-C279-9E0B3C39F06E}"/>
              </a:ext>
            </a:extLst>
          </p:cNvPr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Setup: getting a key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48D297-E29D-28B2-0A8F-7CB37096669D}"/>
              </a:ext>
            </a:extLst>
          </p:cNvPr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035AC4-FDEF-C775-65AE-4DEC85B7C6C8}"/>
              </a:ext>
            </a:extLst>
          </p:cNvPr>
          <p:cNvSpPr txBox="1"/>
          <p:nvPr/>
        </p:nvSpPr>
        <p:spPr>
          <a:xfrm>
            <a:off x="566928" y="1078992"/>
            <a:ext cx="11057839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1.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Free, no credit card.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Google AI Studio: aistudio.google.com/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Sign in with any Google account. Use a project where billing has </a:t>
            </a:r>
            <a:r>
              <a:rPr sz="1550" b="0" i="1" dirty="0">
                <a:solidFill>
                  <a:srgbClr val="1A1A1A"/>
                </a:solidFill>
                <a:latin typeface="Calibri"/>
              </a:rPr>
              <a:t>never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been enabled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 to make sure you are not charged accidentally.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2. 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Bring your own.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 Anthropic (console.anthropic.com) or OpenAI (platform.openai.com/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api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-keys) both work.</a:t>
            </a: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3.  In </a:t>
            </a:r>
            <a:r>
              <a:rPr sz="1550" b="0" dirty="0" err="1">
                <a:solidFill>
                  <a:srgbClr val="1A1A1A"/>
                </a:solidFill>
                <a:latin typeface="Calibri"/>
              </a:rPr>
              <a:t>Colab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: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Secrets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panel (key icon, left sidebar), add </a:t>
            </a:r>
            <a:r>
              <a:rPr sz="1400" b="0" dirty="0">
                <a:solidFill>
                  <a:srgbClr val="1A1A1A"/>
                </a:solidFill>
                <a:latin typeface="Consolas"/>
              </a:rPr>
              <a:t>GEMINI_API_KEY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</a:t>
            </a:r>
            <a:endParaRPr sz="1400" b="0" dirty="0">
              <a:solidFill>
                <a:srgbClr val="1A1A1A"/>
              </a:solidFill>
              <a:latin typeface="Consolas"/>
            </a:endParaRPr>
          </a:p>
          <a:p>
            <a:r>
              <a:rPr sz="700" dirty="0"/>
              <a:t>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9396EAF-DCC9-FDC0-C425-9A033B9340A0}"/>
              </a:ext>
            </a:extLst>
          </p:cNvPr>
          <p:cNvSpPr/>
          <p:nvPr/>
        </p:nvSpPr>
        <p:spPr>
          <a:xfrm>
            <a:off x="676655" y="2471681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Never paste a key into a notebook cell.</a:t>
            </a:r>
            <a:r>
              <a:rPr sz="1300" b="0">
                <a:solidFill>
                  <a:srgbClr val="1A1A1A"/>
                </a:solidFill>
                <a:latin typeface="Calibri"/>
              </a:rPr>
              <a:t>  It ends up in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.ipynb</a:t>
            </a:r>
            <a:r>
              <a:rPr sz="1300" b="0">
                <a:solidFill>
                  <a:srgbClr val="1A1A1A"/>
                </a:solidFill>
                <a:latin typeface="Calibri"/>
              </a:rPr>
              <a:t> JSON, in your shell history, and in git. Use the secrets panel or an environment variable.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1AC977-0D48-B141-C97D-40FF861F5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46" y="3749485"/>
            <a:ext cx="5468486" cy="24250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00472C-B851-88EC-D4BF-F9264CAD3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10" y="24327"/>
            <a:ext cx="11644108" cy="680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484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The framework zoo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ReAct  ·  LangGraph  ·  AutoGen  ·  MPC  ·  MCP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Why not just ReAct?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is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greedy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. At each step the model sees the history and picks one action. That is exactly right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the tool 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interface is lightweight,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mistakes are cheap and recoverable, and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you cannot specify the procedure in advance.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546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It starts to hurt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 need a </a:t>
            </a:r>
            <a:r>
              <a:rPr sz="1550" b="1">
                <a:solidFill>
                  <a:srgbClr val="AA1E1E"/>
                </a:solidFill>
                <a:latin typeface="Calibri"/>
              </a:rPr>
              <a:t>guarantee</a:t>
            </a:r>
            <a:r>
              <a:rPr sz="1550" b="0">
                <a:solidFill>
                  <a:srgbClr val="1A1A1A"/>
                </a:solidFill>
                <a:latin typeface="Calibri"/>
              </a:rPr>
              <a:t> that step B always follows step A (audit, compliance, “always verify before reporting”),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genuinely </a:t>
            </a:r>
            <a:r>
              <a:rPr sz="1550" b="1">
                <a:solidFill>
                  <a:srgbClr val="AA1E1E"/>
                </a:solidFill>
                <a:latin typeface="Calibri"/>
              </a:rPr>
              <a:t>different expertise</a:t>
            </a:r>
            <a:r>
              <a:rPr sz="1550" b="0">
                <a:solidFill>
                  <a:srgbClr val="1A1A1A"/>
                </a:solidFill>
                <a:latin typeface="Calibri"/>
              </a:rPr>
              <a:t> needs different system prompts and different tools,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550" b="1">
                <a:solidFill>
                  <a:srgbClr val="AA1E1E"/>
                </a:solidFill>
                <a:latin typeface="Calibri"/>
              </a:rPr>
              <a:t>expensive</a:t>
            </a:r>
            <a:r>
              <a:rPr sz="1550" b="0">
                <a:solidFill>
                  <a:srgbClr val="1A1A1A"/>
                </a:solidFill>
                <a:latin typeface="Calibri"/>
              </a:rPr>
              <a:t> and you own a cheap forward model that could have caught it, or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>
                <a:solidFill>
                  <a:srgbClr val="1A1A1A"/>
                </a:solidFill>
                <a:latin typeface="Calibri"/>
              </a:rPr>
              <a:t>your tools live in </a:t>
            </a:r>
            <a:r>
              <a:rPr sz="1550" b="1">
                <a:solidFill>
                  <a:srgbClr val="AA1E1E"/>
                </a:solidFill>
                <a:latin typeface="Calibri"/>
              </a:rPr>
              <a:t>someone else’s process</a:t>
            </a:r>
            <a:r>
              <a:rPr sz="1550" b="0">
                <a:solidFill>
                  <a:srgbClr val="1A1A1A"/>
                </a:solidFill>
                <a:latin typeface="Calibri"/>
              </a:rPr>
              <a:t> — a solver, a CAD kernel, a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69280"/>
            <a:ext cx="11057839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500" b="0" dirty="0">
                <a:solidFill>
                  <a:srgbClr val="1A1A1A"/>
                </a:solidFill>
                <a:latin typeface="Calibri"/>
              </a:rPr>
              <a:t>For each of these, different alternate patterns can make sense – providing a different set of alternative frameworks to </a:t>
            </a:r>
            <a:r>
              <a:rPr lang="en-US" sz="1500" b="0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.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Selecting the correct framework for a given task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19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Choosing a pattern is choosing </a:t>
            </a:r>
            <a:r>
              <a:rPr sz="2200" b="1">
                <a:solidFill>
                  <a:srgbClr val="AA1E1E"/>
                </a:solidFill>
                <a:latin typeface="Calibri"/>
              </a:rPr>
              <a:t>who owns control flow</a:t>
            </a:r>
            <a:r>
              <a:rPr sz="22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ReAct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model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LangGraph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you</a:t>
            </a:r>
            <a:r>
              <a:rPr sz="1100" b="0">
                <a:solidFill>
                  <a:srgbClr val="6E6E6E"/>
                </a:solidFill>
                <a:latin typeface="Calibri"/>
              </a:rPr>
              <a:t> decide,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947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F1E9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AutoGen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the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conversation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95744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MPC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a </a:t>
            </a:r>
            <a:r>
              <a:rPr sz="1100" b="0" i="1">
                <a:solidFill>
                  <a:srgbClr val="6E6E6E"/>
                </a:solidFill>
                <a:latin typeface="Calibri"/>
              </a:rPr>
              <a:t>simulator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decides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62288" y="2057400"/>
            <a:ext cx="0" cy="1645920"/>
          </a:xfrm>
          <a:prstGeom prst="line">
            <a:avLst/>
          </a:prstGeom>
          <a:ln w="12700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400032" y="2240280"/>
            <a:ext cx="1920240" cy="12344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MCP</a:t>
            </a:r>
          </a:p>
          <a:p>
            <a:pPr algn="ctr"/>
            <a:r>
              <a:rPr sz="1100" b="0" i="1">
                <a:solidFill>
                  <a:srgbClr val="6E6E6E"/>
                </a:solidFill>
                <a:latin typeface="Calibri"/>
              </a:rPr>
              <a:t>nobody</a:t>
            </a:r>
            <a:r>
              <a:rPr sz="1100" b="0">
                <a:solidFill>
                  <a:srgbClr val="6E6E6E"/>
                </a:solidFill>
                <a:latin typeface="Calibri"/>
              </a:rPr>
              <a:t> —</a:t>
            </a:r>
          </a:p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it’s plumbing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1207" y="3858768"/>
            <a:ext cx="8403337" cy="0"/>
          </a:xfrm>
          <a:prstGeom prst="line">
            <a:avLst/>
          </a:prstGeom>
          <a:ln w="15875">
            <a:solidFill>
              <a:srgbClr val="9A9A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5488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more autonomy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3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6E6E6E"/>
                </a:solidFill>
                <a:latin typeface="Calibri"/>
              </a:rPr>
              <a:t>more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39319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a </a:t>
            </a:r>
            <a:r>
              <a:rPr sz="1000" b="0" i="1">
                <a:solidFill>
                  <a:srgbClr val="6E6E6E"/>
                </a:solidFill>
                <a:latin typeface="Calibri"/>
              </a:rPr>
              <a:t>transport</a:t>
            </a:r>
            <a:r>
              <a:rPr sz="1000" b="0">
                <a:solidFill>
                  <a:srgbClr val="6E6E6E"/>
                </a:solidFill>
                <a:latin typeface="Calibri"/>
              </a:rPr>
              <a:t>,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not an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11057839" cy="223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lang="en-US" sz="1450" b="0" dirty="0">
                <a:solidFill>
                  <a:srgbClr val="1A1A1A"/>
                </a:solidFill>
                <a:latin typeface="Calibri"/>
              </a:rPr>
              <a:t>MCP is its own thing and can be combined with the other four.</a:t>
            </a:r>
            <a:endParaRPr sz="145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zoo, on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34440"/>
          <a:ext cx="11057836" cy="25085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8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49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82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2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Control flow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Lookahead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Roles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model, step by step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open-ended, errors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you, as a 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fixed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you need guarantees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emergent, via chat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many, fluid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expertise must collide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simulator ranks plans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N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steps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+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wrong actions are costly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1">
                          <a:solidFill>
                            <a:srgbClr val="1A1A1A"/>
                          </a:solidFill>
                          <a:latin typeface="Calibri"/>
                        </a:rPr>
                        <a:t>orthogonal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 — how tools reach the agent, not how it decides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977639"/>
            <a:ext cx="11057839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For each of the four architectures we will look at: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the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syntax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— what the code actually looks like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toy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— the </a:t>
            </a:r>
            <a:r>
              <a:rPr sz="1550" b="0" i="1" dirty="0">
                <a:solidFill>
                  <a:srgbClr val="1A1A1A"/>
                </a:solidFill>
                <a:latin typeface="Calibri"/>
              </a:rPr>
              <a:t>same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trivial task, so 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it’s easy to disentangle the syntax</a:t>
            </a:r>
            <a:endParaRPr sz="155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50" b="0" dirty="0">
                <a:solidFill>
                  <a:srgbClr val="1A1A1A"/>
                </a:solidFill>
                <a:latin typeface="Calibri"/>
              </a:rPr>
              <a:t>an </a:t>
            </a:r>
            <a:r>
              <a:rPr sz="1550" b="1" dirty="0">
                <a:solidFill>
                  <a:srgbClr val="1A1A1A"/>
                </a:solidFill>
                <a:latin typeface="Calibri"/>
              </a:rPr>
              <a:t>exemplar</a:t>
            </a:r>
            <a:r>
              <a:rPr sz="1550" b="0" dirty="0">
                <a:solidFill>
                  <a:srgbClr val="1A1A1A"/>
                </a:solidFill>
                <a:latin typeface="Calibri"/>
              </a:rPr>
              <a:t> — a </a:t>
            </a:r>
            <a:r>
              <a:rPr lang="en-US" sz="1550" b="0" dirty="0">
                <a:solidFill>
                  <a:srgbClr val="1A1A1A"/>
                </a:solidFill>
                <a:latin typeface="Calibri"/>
              </a:rPr>
              <a:t>toy problem where the specific framework shines</a:t>
            </a:r>
            <a:endParaRPr sz="1550" b="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common toy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To compare syntax fairly, every framework gets the </a:t>
            </a:r>
            <a:r>
              <a:rPr sz="1600" b="0" i="1">
                <a:solidFill>
                  <a:srgbClr val="1A1A1A"/>
                </a:solidFill>
                <a:latin typeface="Calibri"/>
              </a:rPr>
              <a:t>same</a:t>
            </a:r>
            <a:r>
              <a:rPr sz="1600" b="0">
                <a:solidFill>
                  <a:srgbClr val="1A1A1A"/>
                </a:solidFill>
                <a:latin typeface="Calibri"/>
              </a:rPr>
              <a:t> trivial job: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83080"/>
            <a:ext cx="92290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Toy task.</a:t>
            </a:r>
            <a:r>
              <a:rPr sz="1500" b="0">
                <a:solidFill>
                  <a:srgbClr val="1A1A1A"/>
                </a:solidFill>
                <a:latin typeface="Calibri"/>
              </a:rPr>
              <a:t>  Given a target number, use a </a:t>
            </a:r>
            <a:r>
              <a:rPr sz="1350" b="0">
                <a:solidFill>
                  <a:srgbClr val="1A1A1A"/>
                </a:solidFill>
                <a:latin typeface="Consolas"/>
              </a:rPr>
              <a:t>calculator</a:t>
            </a:r>
            <a:r>
              <a:rPr sz="1500" b="0">
                <a:solidFill>
                  <a:srgbClr val="1A1A1A"/>
                </a:solidFill>
                <a:latin typeface="Calibri"/>
              </a:rPr>
              <a:t> tool to reach it, then report the result. No framework should need more than ~20 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26080"/>
            <a:ext cx="11057839" cy="7309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0" dirty="0">
                <a:solidFill>
                  <a:srgbClr val="1A1A1A"/>
                </a:solidFill>
                <a:latin typeface="Calibri"/>
              </a:rPr>
              <a:t>The toy is deliberately </a:t>
            </a:r>
            <a:r>
              <a:rPr sz="1600" b="1" dirty="0">
                <a:solidFill>
                  <a:srgbClr val="1A1A1A"/>
                </a:solidFill>
                <a:latin typeface="Calibri"/>
              </a:rPr>
              <a:t>too easy to </a:t>
            </a:r>
            <a:r>
              <a:rPr lang="en-US" sz="1600" b="1" dirty="0">
                <a:solidFill>
                  <a:srgbClr val="1A1A1A"/>
                </a:solidFill>
                <a:latin typeface="Calibri"/>
              </a:rPr>
              <a:t>make</a:t>
            </a:r>
            <a:r>
              <a:rPr sz="1600" b="1" dirty="0">
                <a:solidFill>
                  <a:srgbClr val="1A1A1A"/>
                </a:solidFill>
                <a:latin typeface="Calibri"/>
              </a:rPr>
              <a:t> any </a:t>
            </a:r>
            <a:r>
              <a:rPr lang="en-US" sz="1600" b="1" dirty="0">
                <a:solidFill>
                  <a:srgbClr val="1A1A1A"/>
                </a:solidFill>
                <a:latin typeface="Calibri"/>
              </a:rPr>
              <a:t>of the frameworks preferable to another.</a:t>
            </a:r>
            <a:r>
              <a:rPr lang="en-US" sz="1600" dirty="0">
                <a:solidFill>
                  <a:srgbClr val="1A1A1A"/>
                </a:solidFill>
                <a:latin typeface="Calibri"/>
              </a:rPr>
              <a:t> This will let us understand the basic syntax of each</a:t>
            </a:r>
            <a:endParaRPr sz="1600" b="0" dirty="0">
              <a:solidFill>
                <a:srgbClr val="1A1A1A"/>
              </a:solidFill>
              <a:latin typeface="Calibri"/>
            </a:endParaRPr>
          </a:p>
          <a:p>
            <a:r>
              <a:rPr sz="800" dirty="0"/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3492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6E6E6E"/>
                </a:solidFill>
                <a:latin typeface="Calibri"/>
              </a:rPr>
              <a:t>Notebook: 01_agentic_patterns.ipynb, §1–§5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1 — ReAct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model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No framework. A </a:t>
            </a:r>
            <a:r>
              <a:rPr sz="1350" b="0">
                <a:solidFill>
                  <a:srgbClr val="1A1A1A"/>
                </a:solidFill>
                <a:latin typeface="Consolas"/>
              </a:rPr>
              <a:t>for</a:t>
            </a:r>
            <a:r>
              <a:rPr sz="1500" b="0">
                <a:solidFill>
                  <a:srgbClr val="1A1A1A"/>
                </a:solidFill>
                <a:latin typeface="Calibri"/>
              </a:rPr>
              <a:t> loop and a dispatch 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11057839" cy="38221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contents = [user_prompt]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step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range(max_steps):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resp = client.models.generate_content(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model=MODEL, contents=contents,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config=GenerateContentConfig(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system_instruction=system_prompt,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tools=[Tool(function_declarations=tool_schemas)]))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contents.append(resp.candidates[0].content)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calls = [p.function_call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p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resp.candidates[0].content.parts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p.function_call]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</a:t>
            </a:r>
            <a:r>
              <a:rPr sz="1200" i="0">
                <a:solidFill>
                  <a:srgbClr val="005AA0"/>
                </a:solidFill>
                <a:latin typeface="Consolas"/>
              </a:rPr>
              <a:t>not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resp.text       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final answer</a:t>
            </a:r>
          </a:p>
          <a:p>
            <a:pPr algn="l">
              <a:lnSpc>
                <a:spcPct val="106000"/>
              </a:lnSpc>
            </a:pPr>
            <a:endParaRPr sz="120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for</a:t>
            </a:r>
            <a:r>
              <a:rPr sz="1200" i="0">
                <a:solidFill>
                  <a:srgbClr val="1A1A1A"/>
                </a:solidFill>
                <a:latin typeface="Consolas"/>
              </a:rPr>
              <a:t> fc </a:t>
            </a:r>
            <a:r>
              <a:rPr sz="1200" i="0">
                <a:solidFill>
                  <a:srgbClr val="005AA0"/>
                </a:solidFill>
                <a:latin typeface="Consolas"/>
              </a:rPr>
              <a:t>in</a:t>
            </a:r>
            <a:r>
              <a:rPr sz="1200" i="0">
                <a:solidFill>
                  <a:srgbClr val="1A1A1A"/>
                </a:solidFill>
                <a:latin typeface="Consolas"/>
              </a:rPr>
              <a:t> calls: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result = tool_fns[fc.name](**dict(fc.args))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contents.append(Part.from_function_response(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name=fc.name, response=result))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Dependencies: one SDK.  State: the </a:t>
            </a:r>
            <a:r>
              <a:rPr sz="1150" b="0">
                <a:solidFill>
                  <a:srgbClr val="1A1A1A"/>
                </a:solidFill>
                <a:latin typeface="Consolas"/>
              </a:rPr>
              <a:t>contents</a:t>
            </a:r>
            <a:r>
              <a:rPr sz="1300" b="0">
                <a:solidFill>
                  <a:srgbClr val="1A1A1A"/>
                </a:solidFill>
                <a:latin typeface="Calibri"/>
              </a:rPr>
              <a:t> list.  That’s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ReAct — exemplar: adaptive mesh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649224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 dirty="0">
                <a:solidFill>
                  <a:srgbClr val="1A1A1A"/>
                </a:solidFill>
                <a:latin typeface="Calibri"/>
              </a:rPr>
              <a:t>Why </a:t>
            </a:r>
            <a:r>
              <a:rPr sz="1450" b="1" dirty="0" err="1">
                <a:solidFill>
                  <a:srgbClr val="1A1A1A"/>
                </a:solidFill>
                <a:latin typeface="Calibri"/>
              </a:rPr>
              <a:t>ReAct</a:t>
            </a:r>
            <a:r>
              <a:rPr sz="1450" b="1" dirty="0">
                <a:solidFill>
                  <a:srgbClr val="1A1A1A"/>
                </a:solidFill>
                <a:latin typeface="Calibri"/>
              </a:rPr>
              <a:t> is the right call here: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 dirty="0">
                <a:solidFill>
                  <a:srgbClr val="1A1A1A"/>
                </a:solidFill>
                <a:latin typeface="Calibri"/>
              </a:rPr>
              <a:t>The number of refinement cycles is </a:t>
            </a:r>
            <a:r>
              <a:rPr sz="1450" b="1" dirty="0">
                <a:solidFill>
                  <a:srgbClr val="AA1E1E"/>
                </a:solidFill>
                <a:latin typeface="Calibri"/>
              </a:rPr>
              <a:t>not knowable in advance</a:t>
            </a:r>
            <a:r>
              <a:rPr sz="1450" b="0" dirty="0">
                <a:solidFill>
                  <a:srgbClr val="1A1A1A"/>
                </a:solidFill>
                <a:latin typeface="Calibri"/>
              </a:rPr>
              <a:t> — it depends on observed error.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 dirty="0">
                <a:solidFill>
                  <a:srgbClr val="1A1A1A"/>
                </a:solidFill>
                <a:latin typeface="Calibri"/>
              </a:rPr>
              <a:t>Every action is </a:t>
            </a:r>
            <a:r>
              <a:rPr sz="1450" b="1" dirty="0">
                <a:solidFill>
                  <a:srgbClr val="AA1E1E"/>
                </a:solidFill>
                <a:latin typeface="Calibri"/>
              </a:rPr>
              <a:t>cheap and recoverable</a:t>
            </a:r>
            <a:r>
              <a:rPr sz="1450" b="0" dirty="0">
                <a:solidFill>
                  <a:srgbClr val="1A1A1A"/>
                </a:solidFill>
                <a:latin typeface="Calibri"/>
              </a:rPr>
              <a:t>: a bad refinement just makes a mesh </a:t>
            </a:r>
            <a:r>
              <a:rPr sz="1450" b="0">
                <a:solidFill>
                  <a:srgbClr val="1A1A1A"/>
                </a:solidFill>
                <a:latin typeface="Calibri"/>
              </a:rPr>
              <a:t>you discard</a:t>
            </a:r>
            <a:r>
              <a:rPr lang="en-US" sz="1450" b="0">
                <a:solidFill>
                  <a:srgbClr val="1A1A1A"/>
                </a:solidFill>
                <a:latin typeface="Calibri"/>
              </a:rPr>
              <a:t> (not OK in &gt; 2D!)</a:t>
            </a:r>
            <a:r>
              <a:rPr sz="1450" b="0">
                <a:solidFill>
                  <a:srgbClr val="1A1A1A"/>
                </a:solidFill>
                <a:latin typeface="Calibri"/>
              </a:rPr>
              <a:t>.</a:t>
            </a:r>
            <a:endParaRPr sz="1450" b="0" dirty="0">
              <a:solidFill>
                <a:srgbClr val="1A1A1A"/>
              </a:solidFill>
              <a:latin typeface="Calibri"/>
            </a:endParaRP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 dirty="0">
                <a:solidFill>
                  <a:srgbClr val="1A1A1A"/>
                </a:solidFill>
                <a:latin typeface="Calibri"/>
              </a:rPr>
              <a:t>The model must </a:t>
            </a:r>
            <a:r>
              <a:rPr sz="1450" b="1" dirty="0">
                <a:solidFill>
                  <a:srgbClr val="AA1E1E"/>
                </a:solidFill>
                <a:latin typeface="Calibri"/>
              </a:rPr>
              <a:t>react to observations</a:t>
            </a:r>
            <a:r>
              <a:rPr sz="1450" b="0" dirty="0">
                <a:solidFill>
                  <a:srgbClr val="1A1A1A"/>
                </a:solidFill>
                <a:latin typeface="Calibri"/>
              </a:rPr>
              <a:t> it could not have predicted (the error estimate after each solve).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 dirty="0">
                <a:solidFill>
                  <a:srgbClr val="1A1A1A"/>
                </a:solidFill>
                <a:latin typeface="Calibri"/>
              </a:rPr>
              <a:t>The tool surface is </a:t>
            </a:r>
            <a:r>
              <a:rPr sz="1450" b="1" dirty="0">
                <a:solidFill>
                  <a:srgbClr val="AA1E1E"/>
                </a:solidFill>
                <a:latin typeface="Calibri"/>
              </a:rPr>
              <a:t>small</a:t>
            </a:r>
            <a:r>
              <a:rPr sz="1450" b="0" dirty="0">
                <a:solidFill>
                  <a:srgbClr val="1A1A1A"/>
                </a:solidFill>
                <a:latin typeface="Calibri"/>
              </a:rPr>
              <a:t> — six tools.</a:t>
            </a:r>
          </a:p>
          <a:p>
            <a:r>
              <a:rPr sz="700" dirty="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 dirty="0">
                <a:solidFill>
                  <a:srgbClr val="1A1A1A"/>
                </a:solidFill>
                <a:latin typeface="Calibri"/>
              </a:rPr>
              <a:t>Greedy, one-step-at-a-time decision making </a:t>
            </a:r>
            <a:r>
              <a:rPr lang="en-US" sz="1450" b="0" dirty="0">
                <a:solidFill>
                  <a:srgbClr val="1A1A1A"/>
                </a:solidFill>
                <a:latin typeface="Calibri"/>
              </a:rPr>
              <a:t>makes this the right framework.</a:t>
            </a:r>
            <a:endParaRPr sz="145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solve_poisson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224028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local_indicators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06324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refine_by_threshold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stop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9144000" y="192024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9144000" y="2743200"/>
            <a:ext cx="0" cy="32004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9144000" y="3566160"/>
            <a:ext cx="0" cy="5943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543800" y="1664208"/>
            <a:ext cx="0" cy="1645920"/>
          </a:xfrm>
          <a:prstGeom prst="bentConnector3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543800" y="3310128"/>
            <a:ext cx="2743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43800" y="1664208"/>
            <a:ext cx="2743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2331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675887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Calibri"/>
              </a:rPr>
              <a:t>tol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8920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The model chooses the arrow to take at every step. Nothing in the code forces this order.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2 — Graphs (LangGraph)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you own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declare a typed state, nodes that transform it, and edges. The LLM fills in nodes;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the graph</a:t>
            </a:r>
            <a:r>
              <a:rPr sz="1450" b="0">
                <a:solidFill>
                  <a:srgbClr val="1A1A1A"/>
                </a:solidFill>
                <a:latin typeface="Calibri"/>
              </a:rPr>
              <a:t> decides what runs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481279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langgraph.graph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StateGraph, END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typing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TypedDict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class</a:t>
            </a:r>
            <a:r>
              <a:rPr sz="1150" i="0">
                <a:solidFill>
                  <a:srgbClr val="1A1A1A"/>
                </a:solidFill>
                <a:latin typeface="Consolas"/>
              </a:rPr>
              <a:t> S(TypedDict):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mesh_id: int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error: float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attempts: int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solve(s):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: run_solver(s[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 ...}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refine(s):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{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: do_refine(s[</a:t>
            </a:r>
            <a:r>
              <a:rPr sz="115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150" i="0">
                <a:solidFill>
                  <a:srgbClr val="1A1A1A"/>
                </a:solidFill>
                <a:latin typeface="Consolas"/>
              </a:rPr>
              <a:t>]),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                   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: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+ 1}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def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route(s):                                  </a:t>
            </a:r>
            <a:r>
              <a:rPr sz="1150" i="1">
                <a:solidFill>
                  <a:srgbClr val="787878"/>
                </a:solidFill>
                <a:latin typeface="Consolas"/>
              </a:rPr>
              <a:t># &lt;- control flow, in Python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&lt; TOL:  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if</a:t>
            </a:r>
            <a:r>
              <a:rPr sz="1150" i="0">
                <a:solidFill>
                  <a:srgbClr val="1A1A1A"/>
                </a:solidFill>
                <a:latin typeface="Consolas"/>
              </a:rPr>
              <a:t> s[</a:t>
            </a:r>
            <a:r>
              <a:rPr sz="1150" i="0">
                <a:solidFill>
                  <a:srgbClr val="8C3C14"/>
                </a:solidFill>
                <a:latin typeface="Consolas"/>
              </a:rPr>
              <a:t>"attempts"</a:t>
            </a:r>
            <a:r>
              <a:rPr sz="1150" i="0">
                <a:solidFill>
                  <a:srgbClr val="1A1A1A"/>
                </a:solidFill>
                <a:latin typeface="Consolas"/>
              </a:rPr>
              <a:t>] &gt;= 6: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</a:t>
            </a:r>
            <a:r>
              <a:rPr sz="11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150" i="0">
                <a:solidFill>
                  <a:srgbClr val="1A1A1A"/>
                </a:solidFill>
                <a:latin typeface="Consolas"/>
              </a:rPr>
              <a:t>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8C3C14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 = StateGraph(S)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solve);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refine); g.add_node(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verify)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g.set_entry_point(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g.add_conditional_edges(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route,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{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: </a:t>
            </a:r>
            <a:r>
              <a:rPr sz="1150" i="0">
                <a:solidFill>
                  <a:srgbClr val="8C3C14"/>
                </a:solidFill>
                <a:latin typeface="Consolas"/>
              </a:rPr>
              <a:t>"verify"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"give_up"</a:t>
            </a:r>
            <a:r>
              <a:rPr sz="1150" i="0">
                <a:solidFill>
                  <a:srgbClr val="1A1A1A"/>
                </a:solidFill>
                <a:latin typeface="Consolas"/>
              </a:rPr>
              <a:t>: END})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g.add_edge(</a:t>
            </a:r>
            <a:r>
              <a:rPr sz="1150" i="0">
                <a:solidFill>
                  <a:srgbClr val="8C3C14"/>
                </a:solidFill>
                <a:latin typeface="Consolas"/>
              </a:rPr>
              <a:t>"refine"</a:t>
            </a:r>
            <a:r>
              <a:rPr sz="1150" i="0">
                <a:solidFill>
                  <a:srgbClr val="1A1A1A"/>
                </a:solidFill>
                <a:latin typeface="Consolas"/>
              </a:rPr>
              <a:t>, </a:t>
            </a:r>
            <a:r>
              <a:rPr sz="1150" i="0">
                <a:solidFill>
                  <a:srgbClr val="8C3C14"/>
                </a:solidFill>
                <a:latin typeface="Consolas"/>
              </a:rPr>
              <a:t>"solve"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app = g.compile()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what you actually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9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Guarantees, not suggestions: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00" b="0">
                <a:solidFill>
                  <a:srgbClr val="1A1A1A"/>
                </a:solidFill>
                <a:latin typeface="Consolas"/>
              </a:rPr>
              <a:t>verify</a:t>
            </a:r>
            <a:r>
              <a:rPr sz="1450" b="0">
                <a:solidFill>
                  <a:srgbClr val="1A1A1A"/>
                </a:solidFill>
                <a:latin typeface="Calibri"/>
              </a:rPr>
              <a:t> </a:t>
            </a:r>
            <a:r>
              <a:rPr sz="1450" b="1">
                <a:solidFill>
                  <a:srgbClr val="AA1E1E"/>
                </a:solidFill>
                <a:latin typeface="Calibri"/>
              </a:rPr>
              <a:t>always</a:t>
            </a:r>
            <a:r>
              <a:rPr sz="1450" b="0">
                <a:solidFill>
                  <a:srgbClr val="1A1A1A"/>
                </a:solidFill>
                <a:latin typeface="Calibri"/>
              </a:rPr>
              <a:t> runs before a result is reported. The model cannot decide to skip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retry count is </a:t>
            </a:r>
            <a:r>
              <a:rPr sz="1450" b="1">
                <a:solidFill>
                  <a:srgbClr val="AA1E1E"/>
                </a:solidFill>
                <a:latin typeface="Calibri"/>
              </a:rPr>
              <a:t>bounded in code</a:t>
            </a:r>
            <a:r>
              <a:rPr sz="1450" b="0">
                <a:solidFill>
                  <a:srgbClr val="1A1A1A"/>
                </a:solidFill>
                <a:latin typeface="Calibri"/>
              </a:rPr>
              <a:t>. No prompt can talk it into a seventh attempt.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State is </a:t>
            </a:r>
            <a:r>
              <a:rPr sz="1450" b="1">
                <a:solidFill>
                  <a:srgbClr val="AA1E1E"/>
                </a:solidFill>
                <a:latin typeface="Calibri"/>
              </a:rPr>
              <a:t>typed and inspectable</a:t>
            </a:r>
            <a:r>
              <a:rPr sz="1450" b="0">
                <a:solidFill>
                  <a:srgbClr val="1A1A1A"/>
                </a:solidFill>
                <a:latin typeface="Calibri"/>
              </a:rPr>
              <a:t> — you can log, checkpoint, and resume mid-run.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0">
                <a:solidFill>
                  <a:srgbClr val="1A1A1A"/>
                </a:solidFill>
                <a:latin typeface="Calibri"/>
              </a:rPr>
              <a:t>The control flow is a </a:t>
            </a:r>
            <a:r>
              <a:rPr sz="1450" b="1">
                <a:solidFill>
                  <a:srgbClr val="AA1E1E"/>
                </a:solidFill>
                <a:latin typeface="Calibri"/>
              </a:rPr>
              <a:t>diagram you can show a reviewer</a:t>
            </a:r>
            <a:r>
              <a:rPr sz="1450" b="0">
                <a:solidFill>
                  <a:srgbClr val="1A1A1A"/>
                </a:solidFill>
                <a:latin typeface="Calibri"/>
              </a:rPr>
              <a:t>, which matters when the answer feeds a design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1325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verify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379476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2468880"/>
            <a:ext cx="1691640" cy="5029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refine</a:t>
            </a:r>
          </a:p>
        </p:txBody>
      </p:sp>
      <p:cxnSp>
        <p:nvCxnSpPr>
          <p:cNvPr id="9" name="Connector 8"/>
          <p:cNvCxnSpPr>
            <a:stCxn id="5" idx="2"/>
            <a:endCxn id="6" idx="0"/>
          </p:cNvCxnSpPr>
          <p:nvPr/>
        </p:nvCxnSpPr>
        <p:spPr>
          <a:xfrm flipH="1">
            <a:off x="10126980" y="1828800"/>
            <a:ext cx="0" cy="64008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2"/>
            <a:endCxn id="7" idx="0"/>
          </p:cNvCxnSpPr>
          <p:nvPr/>
        </p:nvCxnSpPr>
        <p:spPr>
          <a:xfrm flipH="1">
            <a:off x="10126980" y="2971800"/>
            <a:ext cx="0" cy="82296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6" idx="1"/>
            <a:endCxn id="8" idx="3"/>
          </p:cNvCxnSpPr>
          <p:nvPr/>
        </p:nvCxnSpPr>
        <p:spPr>
          <a:xfrm flipH="1" flipV="1">
            <a:off x="8503920" y="2720340"/>
            <a:ext cx="777240" cy="0"/>
          </a:xfrm>
          <a:prstGeom prst="line">
            <a:avLst/>
          </a:prstGeom>
          <a:ln w="15875">
            <a:solidFill>
              <a:srgbClr val="AA1E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658100" y="1572768"/>
            <a:ext cx="0" cy="89611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58100" y="1572768"/>
            <a:ext cx="162306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03920" y="22128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AA1E1E"/>
                </a:solidFill>
                <a:latin typeface="Calibri"/>
              </a:rPr>
              <a:t>FAIL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8105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E6E6E"/>
                </a:solidFill>
                <a:latin typeface="Calibri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Compare with the ReAct diagram: same boxes, but here the arrows are code. The model never sees them.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LangGraph — exemplar: solve → verify → repair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28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600" b="0">
                <a:solidFill>
                  <a:srgbClr val="1A1A1A"/>
                </a:solidFill>
                <a:latin typeface="Calibri"/>
              </a:rPr>
              <a:t> you want an FEM result you can put in a report.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057838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34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3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Who enforces it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Every reported result is verified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graph, not the prompt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At most 6 refinement attempts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router, in Python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failed verification triggers repair, not a retry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conditional edge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whole run is reproducible from a checkpoint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typed state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None of these are things you want a language model deciding on a given Tuesday. When “it usually does the right thing” is not good enough, you stop asking and start wiring.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98348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Reach for a graph when the control flow is a </a:t>
            </a:r>
            <a:r>
              <a:rPr sz="1800" b="1">
                <a:solidFill>
                  <a:srgbClr val="AA1E1E"/>
                </a:solidFill>
                <a:latin typeface="Calibri"/>
              </a:rPr>
              <a:t>requirement</a:t>
            </a:r>
            <a:r>
              <a:rPr sz="1800" b="0">
                <a:solidFill>
                  <a:srgbClr val="1A1A1A"/>
                </a:solidFill>
                <a:latin typeface="Calibri"/>
              </a:rPr>
              <a:t>, not a choice.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3 — Conversational multi-agent (AutoGen)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the conversation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You define participants with distinct system prompts and let them talk. Control flow emerges from who speaks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1057839" cy="386346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autogen_agentchat.agents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AssistantAgent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autogen_agentchat.teams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RoundRobinGroupChat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from</a:t>
            </a:r>
            <a:r>
              <a:rPr sz="1150" i="0">
                <a:solidFill>
                  <a:srgbClr val="1A1A1A"/>
                </a:solidFill>
                <a:latin typeface="Consolas"/>
              </a:rPr>
              <a:t> autogen_agentchat.conditions </a:t>
            </a:r>
            <a:r>
              <a:rPr sz="11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TextMentionTermination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modeler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"modeler"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"You propose discretizations. Be concrete and specific."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analyst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"analyst"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"You are a numerical analyst. Challenge the modeler's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proposal on stability, conditioning, </a:t>
            </a:r>
            <a:r>
              <a:rPr sz="1150" i="0">
                <a:solidFill>
                  <a:srgbClr val="005AA0"/>
                </a:solidFill>
                <a:latin typeface="Consolas"/>
              </a:rPr>
              <a:t>and</a:t>
            </a:r>
            <a:r>
              <a:rPr sz="1150" i="0">
                <a:solidFill>
                  <a:srgbClr val="1A1A1A"/>
                </a:solidFill>
                <a:latin typeface="Consolas"/>
              </a:rPr>
              <a:t> convergence rate. Do </a:t>
            </a:r>
            <a:r>
              <a:rPr sz="1150" i="0">
                <a:solidFill>
                  <a:srgbClr val="005AA0"/>
                </a:solidFill>
                <a:latin typeface="Consolas"/>
              </a:rPr>
              <a:t>not</a:t>
            </a:r>
            <a:r>
              <a:rPr sz="1150" i="0">
                <a:solidFill>
                  <a:srgbClr val="1A1A1A"/>
                </a:solidFill>
                <a:latin typeface="Consolas"/>
              </a:rPr>
              <a:t> be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agreeable; your value is </a:t>
            </a:r>
            <a:r>
              <a:rPr sz="1150" i="0">
                <a:solidFill>
                  <a:srgbClr val="005AA0"/>
                </a:solidFill>
                <a:latin typeface="Consolas"/>
              </a:rPr>
              <a:t>in</a:t>
            </a:r>
            <a:r>
              <a:rPr sz="1150" i="0">
                <a:solidFill>
                  <a:srgbClr val="1A1A1A"/>
                </a:solidFill>
                <a:latin typeface="Consolas"/>
              </a:rPr>
              <a:t> the objection.</a:t>
            </a:r>
            <a:r>
              <a:rPr sz="1150" i="0">
                <a:solidFill>
                  <a:srgbClr val="8C3C14"/>
                </a:solidFill>
                <a:latin typeface="Consolas"/>
              </a:rPr>
              <a:t>""</a:t>
            </a:r>
            <a:r>
              <a:rPr sz="1150" i="0">
                <a:solidFill>
                  <a:srgbClr val="1A1A1A"/>
                </a:solidFill>
                <a:latin typeface="Consolas"/>
              </a:rPr>
              <a:t>")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critic = AssistantAgent(</a:t>
            </a:r>
            <a:r>
              <a:rPr sz="1150" i="0">
                <a:solidFill>
                  <a:srgbClr val="8C3C14"/>
                </a:solidFill>
                <a:latin typeface="Consolas"/>
              </a:rPr>
              <a:t>"critic"</a:t>
            </a:r>
            <a:r>
              <a:rPr sz="1150" i="0">
                <a:solidFill>
                  <a:srgbClr val="1A1A1A"/>
                </a:solidFill>
                <a:latin typeface="Consolas"/>
              </a:rPr>
              <a:t>, model_client=client,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system_message=</a:t>
            </a:r>
            <a:r>
              <a:rPr sz="1150" i="0">
                <a:solidFill>
                  <a:srgbClr val="8C3C14"/>
                </a:solidFill>
                <a:latin typeface="Consolas"/>
              </a:rPr>
              <a:t>"Judge the exchange. Say APPROVE only when convinced."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team = RoundRobinGroupChat([modeler, analyst, critic],</a:t>
            </a: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1A1A1A"/>
                </a:solidFill>
                <a:latin typeface="Consolas"/>
              </a:rPr>
              <a:t>    termination_condition=TextMentionTermination(</a:t>
            </a:r>
            <a:r>
              <a:rPr sz="1150" i="0">
                <a:solidFill>
                  <a:srgbClr val="8C3C14"/>
                </a:solidFill>
                <a:latin typeface="Consolas"/>
              </a:rPr>
              <a:t>"APPROVE"</a:t>
            </a:r>
            <a:r>
              <a:rPr sz="1150" i="0">
                <a:solidFill>
                  <a:srgbClr val="1A1A1A"/>
                </a:solidFill>
                <a:latin typeface="Consolas"/>
              </a:rPr>
              <a:t>))</a:t>
            </a:r>
          </a:p>
          <a:p>
            <a:pPr algn="l">
              <a:lnSpc>
                <a:spcPct val="106000"/>
              </a:lnSpc>
            </a:pPr>
            <a:endParaRPr sz="11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150" i="0">
                <a:solidFill>
                  <a:srgbClr val="005AA0"/>
                </a:solidFill>
                <a:latin typeface="Consolas"/>
              </a:rPr>
              <a:t>await</a:t>
            </a:r>
            <a:r>
              <a:rPr sz="1150" i="0">
                <a:solidFill>
                  <a:srgbClr val="1A1A1A"/>
                </a:solidFill>
                <a:latin typeface="Consolas"/>
              </a:rPr>
              <a:t> team.run(task=</a:t>
            </a:r>
            <a:r>
              <a:rPr sz="1150" i="0">
                <a:solidFill>
                  <a:srgbClr val="8C3C14"/>
                </a:solidFill>
                <a:latin typeface="Consolas"/>
              </a:rPr>
              <a:t>"Choose a discretization for advection-dominated flow."</a:t>
            </a:r>
            <a:r>
              <a:rPr sz="1150" i="0">
                <a:solidFill>
                  <a:srgbClr val="1A1A1A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AutoGen — exemplar: the design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choosing a discretization for an advection-dominated problem. There is no single correct answer, and the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reasoning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deliverable.</a:t>
            </a:r>
          </a:p>
          <a:p>
            <a:r>
              <a:rPr sz="70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A single ReAct agent asked “pick a discretization” produces a confident paragraph with no adversarial pressure on it.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Three agents with </a:t>
            </a:r>
            <a:r>
              <a:rPr sz="1500" b="1">
                <a:solidFill>
                  <a:srgbClr val="AA1E1E"/>
                </a:solidFill>
                <a:latin typeface="Calibri"/>
              </a:rPr>
              <a:t>genuinely different objectives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propose, object, judge — produce a transcript in which the weaknesses are stated out loud.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artifact is not the answer. It is </a:t>
            </a:r>
            <a:r>
              <a:rPr sz="1500" b="1">
                <a:solidFill>
                  <a:srgbClr val="AA1E1E"/>
                </a:solidFill>
                <a:latin typeface="Calibri"/>
              </a:rPr>
              <a:t>the argument</a:t>
            </a:r>
            <a:r>
              <a:rPr sz="1500" b="0">
                <a:solidFill>
                  <a:srgbClr val="1A1A1A"/>
                </a:solidFill>
                <a:latin typeface="Calibri"/>
              </a:rPr>
              <a:t>, which a human can audit far faster than they can re-derive.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Reach for conversation when </a:t>
            </a:r>
            <a:r>
              <a:rPr sz="1800" b="1">
                <a:solidFill>
                  <a:srgbClr val="AA1E1E"/>
                </a:solidFill>
                <a:latin typeface="Calibri"/>
              </a:rPr>
              <a:t>disagreement is the product</a:t>
            </a:r>
            <a:r>
              <a:rPr sz="18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Caveat worth stating plainly: this pattern is the easiest of the four to fool yourself with. Three LLMs agreeing is not three experts agreeing — they share a prior. Distinct </a:t>
            </a:r>
            <a:r>
              <a:rPr sz="1300" b="0" i="1">
                <a:solidFill>
                  <a:srgbClr val="1A1A1A"/>
                </a:solidFill>
                <a:latin typeface="Calibri"/>
              </a:rPr>
              <a:t>tools</a:t>
            </a:r>
            <a:r>
              <a:rPr sz="1300" b="0">
                <a:solidFill>
                  <a:srgbClr val="1A1A1A"/>
                </a:solidFill>
                <a:latin typeface="Calibri"/>
              </a:rPr>
              <a:t> per role helps far more than distinct adjectives in the system prompt.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4 — MPC-style planning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a simulator owns control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the idea, borrowed from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Model Predictive Control, as you already know it: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state sₜ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plan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N candidates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5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simulate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forward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72599" y="17830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act</a:t>
            </a:r>
          </a:p>
          <a:p>
            <a:pPr algn="ctr"/>
            <a:r>
              <a:rPr sz="1150" b="0">
                <a:solidFill>
                  <a:srgbClr val="6E6E6E"/>
                </a:solidFill>
                <a:latin typeface="Calibri"/>
              </a:rPr>
              <a:t>first step only</a:t>
            </a:r>
          </a:p>
        </p:txBody>
      </p: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3200400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 flipV="1">
            <a:off x="6035040" y="2217420"/>
            <a:ext cx="502919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7" idx="3"/>
            <a:endCxn id="8" idx="1"/>
          </p:cNvCxnSpPr>
          <p:nvPr/>
        </p:nvCxnSpPr>
        <p:spPr>
          <a:xfrm flipV="1">
            <a:off x="8869679" y="2217420"/>
            <a:ext cx="5029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3845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34539" y="3182112"/>
            <a:ext cx="8503920" cy="0"/>
          </a:xfrm>
          <a:prstGeom prst="line">
            <a:avLst/>
          </a:prstGeom>
          <a:ln w="15875">
            <a:solidFill>
              <a:srgbClr val="6E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34539" y="2651760"/>
            <a:ext cx="0" cy="530352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3236976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re-plan from the new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94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agentic version swaps one box: </a:t>
            </a:r>
            <a:r>
              <a:rPr sz="1500" b="1">
                <a:solidFill>
                  <a:srgbClr val="AA1E1E"/>
                </a:solidFill>
                <a:latin typeface="Calibri"/>
              </a:rPr>
              <a:t>the LLM proposes the candidate plans</a:t>
            </a:r>
            <a:r>
              <a:rPr sz="1500" b="0">
                <a:solidFill>
                  <a:srgbClr val="1A1A1A"/>
                </a:solidFill>
                <a:latin typeface="Calibri"/>
              </a:rPr>
              <a:t>, and the simulator — not the LLM — ranks them.</a:t>
            </a:r>
          </a:p>
          <a:p>
            <a:r>
              <a:rPr sz="700"/>
              <a:t> 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LLM contributes what it is good at: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proposing plausible candidates</a:t>
            </a:r>
            <a:r>
              <a:rPr sz="1500" b="0">
                <a:solidFill>
                  <a:srgbClr val="1A1A1A"/>
                </a:solidFill>
                <a:latin typeface="Calibri"/>
              </a:rPr>
              <a:t> from context.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simulator contributes what it is good at: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being right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You commit only to the first action, then re-plan with real feedback.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No library needed. The pattern is the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293890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state = initial_state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t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range(horizon):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1. LLM proposes N candidate action sequences (cheap,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plans = llm_propose(state, history, n_candidates=5, lookahead=3)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2. The *simulator* scores each one (trusted, not creative)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scores = [world_model.rollout(state, plan) </a:t>
            </a:r>
            <a:r>
              <a:rPr sz="1250" i="0">
                <a:solidFill>
                  <a:srgbClr val="005AA0"/>
                </a:solidFill>
                <a:latin typeface="Consolas"/>
              </a:rPr>
              <a:t>for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 </a:t>
            </a:r>
            <a:r>
              <a:rPr sz="1250" i="0">
                <a:solidFill>
                  <a:srgbClr val="005AA0"/>
                </a:solidFill>
                <a:latin typeface="Consolas"/>
              </a:rPr>
              <a:t>in</a:t>
            </a:r>
            <a:r>
              <a:rPr sz="1250" i="0">
                <a:solidFill>
                  <a:srgbClr val="1A1A1A"/>
                </a:solidFill>
                <a:latin typeface="Consolas"/>
              </a:rPr>
              <a:t> plans]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3. Commit to the first action of the best plan only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best = plans[argmax(scores)]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state = env.step(best[0])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&lt;- the only real action taken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4. Re-plan from the new state (closes the loop on reality)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262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Note what the LLM never does: </a:t>
            </a:r>
            <a:r>
              <a:rPr sz="1550" b="1">
                <a:solidFill>
                  <a:srgbClr val="AA1E1E"/>
                </a:solidFill>
                <a:latin typeface="Calibri"/>
              </a:rPr>
              <a:t>it never decides which plan is best</a:t>
            </a:r>
            <a:r>
              <a:rPr sz="1550" b="0">
                <a:solidFill>
                  <a:srgbClr val="1A1A1A"/>
                </a:solidFill>
                <a:latin typeface="Calibri"/>
              </a:rPr>
              <a:t>. It generates hypotheses; the forward model adjudicates. That division is the entire value of the pattern.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exemplar: black-box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The problem:</a:t>
            </a:r>
            <a:r>
              <a:rPr sz="1500" b="0">
                <a:solidFill>
                  <a:srgbClr val="1A1A1A"/>
                </a:solidFill>
                <a:latin typeface="Calibri"/>
              </a:rPr>
              <a:t> find the launch angle maximizing range for a projectile under quadratic drag. The agent sees only </a:t>
            </a:r>
            <a:r>
              <a:rPr sz="1350" b="0">
                <a:solidFill>
                  <a:srgbClr val="1A1A1A"/>
                </a:solidFill>
                <a:latin typeface="Consolas"/>
              </a:rPr>
              <a:t>evaluate(angle)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11057839" cy="70180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x</a:t>
            </a:r>
            <a:r>
              <a:rPr sz="1350" i="0">
                <a:solidFill>
                  <a:srgbClr val="8C3C14"/>
                </a:solidFill>
                <a:latin typeface="Consolas"/>
              </a:rPr>
              <a:t>''</a:t>
            </a:r>
            <a:r>
              <a:rPr sz="1350" i="0">
                <a:solidFill>
                  <a:srgbClr val="1A1A1A"/>
                </a:solidFill>
                <a:latin typeface="Consolas"/>
              </a:rPr>
              <a:t> = -c_d |v| x</a:t>
            </a:r>
            <a:r>
              <a:rPr sz="1350" i="0">
                <a:solidFill>
                  <a:srgbClr val="8C3C14"/>
                </a:solidFill>
                <a:latin typeface="Consolas"/>
              </a:rPr>
              <a:t>'          y'' = -g - c_d |v| y'</a:t>
            </a:r>
          </a:p>
          <a:p>
            <a:pPr algn="l">
              <a:lnSpc>
                <a:spcPct val="106000"/>
              </a:lnSpc>
            </a:pPr>
            <a:r>
              <a:rPr sz="1350" i="0">
                <a:solidFill>
                  <a:srgbClr val="1A1A1A"/>
                </a:solidFill>
                <a:latin typeface="Consolas"/>
              </a:rPr>
              <a:t>v0 = 50 m/s      c_d = 0.01 1/m      g = 9.81 m/s^2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88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Without drag the optimum is 45°; with drag it shifts lower. The model’s prior is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almost</a:t>
            </a:r>
            <a:r>
              <a:rPr sz="1500" b="0">
                <a:solidFill>
                  <a:srgbClr val="1A1A1A"/>
                </a:solidFill>
                <a:latin typeface="Calibri"/>
              </a:rPr>
              <a:t> right, which is the interesting case.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Every </a:t>
            </a:r>
            <a:r>
              <a:rPr sz="1350" b="0">
                <a:solidFill>
                  <a:srgbClr val="1A1A1A"/>
                </a:solidFill>
                <a:latin typeface="Consolas"/>
              </a:rPr>
              <a:t>evaluate</a:t>
            </a:r>
            <a:r>
              <a:rPr sz="1500" b="0">
                <a:solidFill>
                  <a:srgbClr val="1A1A1A"/>
                </a:solidFill>
                <a:latin typeface="Calibri"/>
              </a:rPr>
              <a:t> call is a real ODE integration — the thing we are budgeting.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We have a </a:t>
            </a:r>
            <a:r>
              <a:rPr sz="1500" b="1">
                <a:solidFill>
                  <a:srgbClr val="AA1E1E"/>
                </a:solidFill>
                <a:latin typeface="Calibri"/>
              </a:rPr>
              <a:t>cheap, trusted forward model</a:t>
            </a:r>
            <a:r>
              <a:rPr sz="1500" b="0">
                <a:solidFill>
                  <a:srgbClr val="1A1A1A"/>
                </a:solidFill>
                <a:latin typeface="Calibri"/>
              </a:rPr>
              <a:t>: a surrogate fitted to what we have seen.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348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In the notebook we run </a:t>
            </a:r>
            <a:r>
              <a:rPr sz="1600" b="1">
                <a:solidFill>
                  <a:srgbClr val="AA1E1E"/>
                </a:solidFill>
                <a:latin typeface="Calibri"/>
              </a:rPr>
              <a:t>ReAct vs. MPC head to head on the same budget</a:t>
            </a:r>
            <a:r>
              <a:rPr sz="1600" b="0">
                <a:solidFill>
                  <a:srgbClr val="1A1A1A"/>
                </a:solidFill>
                <a:latin typeface="Calibri"/>
              </a:rPr>
              <a:t> and count evaluations to a fixed tolerance.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07492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This is the honest way to answer “when would I reach for one over the other” — measure it, don’t assert 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— when it wins, and when it doesn’t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Reach for MPC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A wrong action is </a:t>
            </a:r>
            <a:r>
              <a:rPr sz="1400" b="1">
                <a:solidFill>
                  <a:srgbClr val="AA1E1E"/>
                </a:solidFill>
                <a:latin typeface="Calibri"/>
              </a:rPr>
              <a:t>expensive or irreversible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burning budget, committing a mesh, running an experiment.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You have a </a:t>
            </a:r>
            <a:r>
              <a:rPr sz="1400" b="1">
                <a:solidFill>
                  <a:srgbClr val="AA1E1E"/>
                </a:solidFill>
                <a:latin typeface="Calibri"/>
              </a:rPr>
              <a:t>cheap forward model you trust</a:t>
            </a:r>
            <a:r>
              <a:rPr sz="1400" b="0">
                <a:solidFill>
                  <a:srgbClr val="1A1A1A"/>
                </a:solidFill>
                <a:latin typeface="Calibri"/>
              </a:rPr>
              <a:t> more than the LLM.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Actions compose, so looking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N</a:t>
            </a:r>
            <a:r>
              <a:rPr sz="1400" b="0">
                <a:solidFill>
                  <a:srgbClr val="1A1A1A"/>
                </a:solidFill>
                <a:latin typeface="Calibri"/>
              </a:rPr>
              <a:t> steps ahead genuinely differs from looking one step ahead.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078992"/>
            <a:ext cx="5257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Don’t bother when: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Simulating a plan costs about what executing it costs — then just execute and observe.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You have no forward model. Then MPC degenerates into the LLM grading its own homework, which is worse than ReAct because it is </a:t>
            </a:r>
            <a:r>
              <a:rPr sz="1400" b="0" i="1">
                <a:solidFill>
                  <a:srgbClr val="1A1A1A"/>
                </a:solidFill>
                <a:latin typeface="Calibri"/>
              </a:rPr>
              <a:t>slower</a:t>
            </a:r>
            <a:r>
              <a:rPr sz="1400" b="0">
                <a:solidFill>
                  <a:srgbClr val="1A1A1A"/>
                </a:solidFill>
                <a:latin typeface="Calibri"/>
              </a:rPr>
              <a:t> and equally wrong.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00" b="0">
                <a:solidFill>
                  <a:srgbClr val="1A1A1A"/>
                </a:solidFill>
                <a:latin typeface="Calibri"/>
              </a:rPr>
              <a:t>The problem is convex and small. Use </a:t>
            </a:r>
            <a:r>
              <a:rPr sz="1250" b="0">
                <a:solidFill>
                  <a:srgbClr val="1A1A1A"/>
                </a:solidFill>
                <a:latin typeface="Consolas"/>
              </a:rPr>
              <a:t>scipy.optimize</a:t>
            </a:r>
            <a:r>
              <a:rPr sz="1400" b="0">
                <a:solidFill>
                  <a:srgbClr val="1A1A1A"/>
                </a:solidFill>
                <a:latin typeface="Calibri"/>
              </a:rPr>
              <a:t> and go home.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105783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50" b="1">
                <a:solidFill>
                  <a:srgbClr val="1A1A1A"/>
                </a:solidFill>
                <a:latin typeface="Calibri"/>
              </a:rPr>
              <a:t>The uncomfortable baseline.</a:t>
            </a:r>
            <a:r>
              <a:rPr sz="1350" b="0">
                <a:solidFill>
                  <a:srgbClr val="1A1A1A"/>
                </a:solidFill>
                <a:latin typeface="Calibri"/>
              </a:rPr>
              <a:t>  For the projectile, </a:t>
            </a:r>
            <a:r>
              <a:rPr sz="1200" b="0">
                <a:solidFill>
                  <a:srgbClr val="1A1A1A"/>
                </a:solidFill>
                <a:latin typeface="Consolas"/>
              </a:rPr>
              <a:t>minimize_scalar</a:t>
            </a:r>
            <a:r>
              <a:rPr sz="1350" b="0">
                <a:solidFill>
                  <a:srgbClr val="1A1A1A"/>
                </a:solidFill>
                <a:latin typeface="Calibri"/>
              </a:rPr>
              <a:t> finds the optimum in ~19 evaluations with no LLM at all. We run it in the notebook. If an agent cannot beat scipy, that is worth knowing — and worth saying out loud.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Pattern 5 — MCP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not an architecture at 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MPC is not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38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>
                <a:solidFill>
                  <a:srgbClr val="1A1A1A"/>
                </a:solidFill>
                <a:latin typeface="Calibri"/>
              </a:rPr>
              <a:t>Two three-letter acronyms, one letter apart, both in this talk. Sorry.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74519"/>
          <a:ext cx="11057838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265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22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MPC — Model Predictive Control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MCP — Model Context Protocol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control strategy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wire protocol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Borrowed from process control, 1970s.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Introduced by Anthropic, 2024.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Answers: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how do I decide what to do next?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Answers: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how does my agent reach a tool that lives somewhere else?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Changes your agent’s reasoning.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Changes your agent’s plumbing.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4348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They are orthogonal. You can — and often should — run an </a:t>
            </a:r>
            <a:r>
              <a:rPr sz="1600" b="1">
                <a:solidFill>
                  <a:srgbClr val="AA1E1E"/>
                </a:solidFill>
                <a:latin typeface="Calibri"/>
              </a:rPr>
              <a:t>MPC-style agent whose tools are served over MCP</a:t>
            </a:r>
            <a:r>
              <a:rPr sz="16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MCP — the problem it solves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39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So far, every tool has been a Python function in the same process as the loop. That does not survive contact with a real simulation stack.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Your solver is:</a:t>
            </a:r>
            <a:r>
              <a:rPr sz="1500" b="0">
                <a:solidFill>
                  <a:srgbClr val="1A1A1A"/>
                </a:solidFill>
                <a:latin typeface="Calibri"/>
              </a:rPr>
              <a:t> a compiled binary. On a cluster. Behind a scheduler. Written by someone else, in Fortran, in 1994. Licensed per seat.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40680" y="2240280"/>
            <a:ext cx="1417320" cy="201168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ReAct agent</a:t>
            </a:r>
          </a:p>
        </p:txBody>
      </p:sp>
      <p:cxnSp>
        <p:nvCxnSpPr>
          <p:cNvPr id="7" name="Connector 6"/>
          <p:cNvCxnSpPr>
            <a:stCxn id="6" idx="3"/>
            <a:endCxn id="5" idx="1"/>
          </p:cNvCxnSpPr>
          <p:nvPr/>
        </p:nvCxnSpPr>
        <p:spPr>
          <a:xfrm>
            <a:off x="356616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4173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LangGraph app</a:t>
            </a:r>
          </a:p>
        </p:txBody>
      </p:sp>
      <p:cxnSp>
        <p:nvCxnSpPr>
          <p:cNvPr id="9" name="Connector 8"/>
          <p:cNvCxnSpPr>
            <a:stCxn id="8" idx="3"/>
            <a:endCxn id="5" idx="1"/>
          </p:cNvCxnSpPr>
          <p:nvPr/>
        </p:nvCxnSpPr>
        <p:spPr>
          <a:xfrm flipV="1">
            <a:off x="356616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173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Claude / IDE</a:t>
            </a:r>
          </a:p>
        </p:txBody>
      </p:sp>
      <p:cxnSp>
        <p:nvCxnSpPr>
          <p:cNvPr id="11" name="Connector 10"/>
          <p:cNvCxnSpPr>
            <a:stCxn id="10" idx="3"/>
            <a:endCxn id="5" idx="1"/>
          </p:cNvCxnSpPr>
          <p:nvPr/>
        </p:nvCxnSpPr>
        <p:spPr>
          <a:xfrm flipV="1">
            <a:off x="356616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732520" y="22402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mesh server</a:t>
            </a:r>
          </a:p>
        </p:txBody>
      </p:sp>
      <p:cxnSp>
        <p:nvCxnSpPr>
          <p:cNvPr id="13" name="Connector 12"/>
          <p:cNvCxnSpPr>
            <a:stCxn id="5" idx="3"/>
            <a:endCxn id="12" idx="1"/>
          </p:cNvCxnSpPr>
          <p:nvPr/>
        </p:nvCxnSpPr>
        <p:spPr>
          <a:xfrm flipV="1">
            <a:off x="6858000" y="251460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297180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solver server</a:t>
            </a:r>
          </a:p>
        </p:txBody>
      </p:sp>
      <p:cxnSp>
        <p:nvCxnSpPr>
          <p:cNvPr id="15" name="Connector 14"/>
          <p:cNvCxnSpPr>
            <a:stCxn id="5" idx="3"/>
            <a:endCxn id="14" idx="1"/>
          </p:cNvCxnSpPr>
          <p:nvPr/>
        </p:nvCxnSpPr>
        <p:spPr>
          <a:xfrm flipV="1">
            <a:off x="6858000" y="3246120"/>
            <a:ext cx="187452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370332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CAD server</a:t>
            </a:r>
          </a:p>
        </p:txBody>
      </p:sp>
      <p:cxnSp>
        <p:nvCxnSpPr>
          <p:cNvPr id="17" name="Connector 16"/>
          <p:cNvCxnSpPr>
            <a:stCxn id="5" idx="3"/>
            <a:endCxn id="16" idx="1"/>
          </p:cNvCxnSpPr>
          <p:nvPr/>
        </p:nvCxnSpPr>
        <p:spPr>
          <a:xfrm>
            <a:off x="6858000" y="3246120"/>
            <a:ext cx="1874520" cy="73152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47091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MCP standardizes the contract between the two sides: </a:t>
            </a:r>
            <a:r>
              <a:rPr sz="1500" b="1">
                <a:solidFill>
                  <a:srgbClr val="AA1E1E"/>
                </a:solidFill>
                <a:latin typeface="Calibri"/>
              </a:rPr>
              <a:t>write your solver’s tool surface once</a:t>
            </a:r>
            <a:r>
              <a:rPr sz="1500" b="0">
                <a:solidFill>
                  <a:srgbClr val="1A1A1A"/>
                </a:solidFill>
                <a:latin typeface="Calibri"/>
              </a:rPr>
              <a:t>, and any MCP-speaking client can drive it — your notebook today, a colleague’s LangGraph pipeline tomorrow, a desktop assistant after that.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MCP —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40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Server side: decorate the functions you want to expose.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35580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mcp.server.fastmcp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FastMCP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 = FastMCP(</a:t>
            </a:r>
            <a:r>
              <a:rPr sz="1250" i="0">
                <a:solidFill>
                  <a:srgbClr val="8C3C14"/>
                </a:solidFill>
                <a:latin typeface="Consolas"/>
              </a:rPr>
              <a:t>"fem-tools"</a:t>
            </a:r>
            <a:r>
              <a:rPr sz="1250" i="0">
                <a:solidFill>
                  <a:srgbClr val="1A1A1A"/>
                </a:solidFill>
                <a:latin typeface="Consolas"/>
              </a:rPr>
              <a:t>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solve_poisson(mesh_id: int)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"""Solve -Laplacian(u) = 1 with u=0 on the boundary."""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u, basis = solve_poisson_on(MESH_REGISTRY[mesh_id])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{</a:t>
            </a:r>
            <a:r>
              <a:rPr sz="125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50" i="0">
                <a:solidFill>
                  <a:srgbClr val="1A1A1A"/>
                </a:solidFill>
                <a:latin typeface="Consolas"/>
              </a:rPr>
              <a:t>: int(basis.N), </a:t>
            </a:r>
            <a:r>
              <a:rPr sz="125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50" i="0">
                <a:solidFill>
                  <a:srgbClr val="1A1A1A"/>
                </a:solidFill>
                <a:latin typeface="Consolas"/>
              </a:rPr>
              <a:t>: h1_error(...)}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@mcp.tool()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refine_by_threshold(mesh_id: int, theta: float = 0.5) -&gt; dict: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8C3C14"/>
                </a:solidFill>
                <a:latin typeface="Consolas"/>
              </a:rPr>
              <a:t>"""Doerfler-mark and refine. theta in (0,1)."""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...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mcp.run()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now speaks MCP over stdio or HTTP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7" y="520395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The type hints and docstrings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become</a:t>
            </a:r>
            <a:r>
              <a:rPr sz="1500" b="0">
                <a:solidFill>
                  <a:srgbClr val="1A1A1A"/>
                </a:solidFill>
                <a:latin typeface="Calibri"/>
              </a:rPr>
              <a:t> the JSON schema. Notice this is the same information as the “what a tool is” slide — MCP does not change what a tool is, only </a:t>
            </a:r>
            <a:r>
              <a:rPr sz="1500" b="1">
                <a:solidFill>
                  <a:srgbClr val="AA1E1E"/>
                </a:solidFill>
                <a:latin typeface="Calibri"/>
              </a:rPr>
              <a:t>who can reach it</a:t>
            </a:r>
            <a:r>
              <a:rPr sz="15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Choosing: a decision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80160"/>
          <a:ext cx="1105783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06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0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If this is true of your problem…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start here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 can’t specify the procedure in advance, and mistakes are cheap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Something must </a:t>
                      </a:r>
                      <a:r>
                        <a:rPr sz="1400" b="0" i="1">
                          <a:solidFill>
                            <a:srgbClr val="1A1A1A"/>
                          </a:solidFill>
                          <a:latin typeface="Calibri"/>
                        </a:rPr>
                        <a:t>always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happen (verify, log, approve), or a human signs off on the result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LangGraph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The roles need different tools and different incentives, and I want the disagreement on record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AutoGen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Actions are expensive or irreversible, and I own a forward model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MPC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My tools live in another process, language, or machine — or others need to reuse them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MCP</a:t>
                      </a:r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 (with any of the above)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6177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AA1E1E"/>
                </a:solidFill>
                <a:latin typeface="Calibri"/>
              </a:rPr>
              <a:t>Start at the top.</a:t>
            </a:r>
            <a:r>
              <a:rPr sz="1700" b="0">
                <a:solidFill>
                  <a:srgbClr val="1A1A1A"/>
                </a:solidFill>
                <a:latin typeface="Calibri"/>
              </a:rPr>
              <a:t>  Every row down is more machinery, more failure surface, and more code you own. Earn each step.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A word on framework enthusiasm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All four patterns are ~30 lines of Python. The frameworks add persistence, retries, streaming, tracing, and a community — real value, at the cost of an abstraction between you and the loop.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594799" cy="7406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450" b="1">
                <a:solidFill>
                  <a:srgbClr val="1A1A1A"/>
                </a:solidFill>
                <a:latin typeface="Calibri"/>
              </a:rPr>
              <a:t>Suggested order of operations.</a:t>
            </a:r>
            <a:r>
              <a:rPr sz="1450" b="0">
                <a:solidFill>
                  <a:srgbClr val="1A1A1A"/>
                </a:solidFill>
                <a:latin typeface="Calibri"/>
              </a:rPr>
              <a:t>   1. Write the loop yourself, once, for your problem. It is an afternoon.   2. Find out which part actually hurts (state? retries? observability?).   3.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Then</a:t>
            </a:r>
            <a:r>
              <a:rPr sz="1450" b="0">
                <a:solidFill>
                  <a:srgbClr val="1A1A1A"/>
                </a:solidFill>
                <a:latin typeface="Calibri"/>
              </a:rPr>
              <a:t> adopt the framework that fixes that specific pain.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0690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In today’s notebook every pattern appears </a:t>
            </a:r>
            <a:r>
              <a:rPr sz="1550" b="1">
                <a:solidFill>
                  <a:srgbClr val="AA1E1E"/>
                </a:solidFill>
                <a:latin typeface="Calibri"/>
              </a:rPr>
              <a:t>twice</a:t>
            </a:r>
            <a:r>
              <a:rPr sz="1550" b="0">
                <a:solidFill>
                  <a:srgbClr val="1A1A1A"/>
                </a:solidFill>
                <a:latin typeface="Calibri"/>
              </a:rPr>
              <a:t>: once in the real framework’s syntax, and once in ~15 lines of plain Python. The second version is there to demystify the first — and so the notebook still runs when a </a:t>
            </a:r>
            <a:r>
              <a:rPr sz="1400" b="0">
                <a:solidFill>
                  <a:srgbClr val="1A1A1A"/>
                </a:solidFill>
                <a:latin typeface="Consolas"/>
              </a:rPr>
              <a:t>pip install</a:t>
            </a:r>
            <a:r>
              <a:rPr sz="1550" b="0">
                <a:solidFill>
                  <a:srgbClr val="1A1A1A"/>
                </a:solidFill>
                <a:latin typeface="Calibri"/>
              </a:rPr>
              <a:t> fails on conference wifi.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Scientific computing
as a tool surface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workflow you already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3952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27463" y="1207008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post</a:t>
            </a:r>
          </a:p>
        </p:txBody>
      </p: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>
            <a:off x="2761488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>
            <a:off x="5715000" y="1572768"/>
            <a:ext cx="758952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6" idx="3"/>
            <a:endCxn id="7" idx="1"/>
          </p:cNvCxnSpPr>
          <p:nvPr/>
        </p:nvCxnSpPr>
        <p:spPr>
          <a:xfrm>
            <a:off x="8668512" y="1572768"/>
            <a:ext cx="758951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24743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17720" y="2395728"/>
            <a:ext cx="5907023" cy="0"/>
          </a:xfrm>
          <a:prstGeom prst="line">
            <a:avLst/>
          </a:prstGeom>
          <a:ln w="15875">
            <a:solidFill>
              <a:srgbClr val="9A9A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17720" y="1938528"/>
            <a:ext cx="0" cy="457200"/>
          </a:xfrm>
          <a:prstGeom prst="line">
            <a:avLst/>
          </a:prstGeom>
          <a:ln w="15875">
            <a:solidFill>
              <a:srgbClr val="9A9A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43230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E6E6E"/>
                </a:solidFill>
                <a:latin typeface="Calibri"/>
              </a:rPr>
              <a:t>refine and repeat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944368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Most of you do this daily. The question for the rest of the morning is not how it works — it is: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4747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100" b="0">
                <a:solidFill>
                  <a:srgbClr val="AA1E1E"/>
                </a:solidFill>
                <a:latin typeface="Calibri"/>
              </a:rPr>
              <a:t>What does this look like when an LLM is holding the mouse?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062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Three things have to change: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1.  Every stage needs a </a:t>
            </a:r>
            <a:r>
              <a:rPr sz="1550" b="1">
                <a:solidFill>
                  <a:srgbClr val="1A1A1A"/>
                </a:solidFill>
                <a:latin typeface="Calibri"/>
              </a:rPr>
              <a:t>JSON-callable signature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2.  Objects that can’t cross a JSON boundary (meshes, bases, matrices) need </a:t>
            </a:r>
            <a:r>
              <a:rPr sz="1550" b="1">
                <a:solidFill>
                  <a:srgbClr val="1A1A1A"/>
                </a:solidFill>
                <a:latin typeface="Calibri"/>
              </a:rPr>
              <a:t>handles</a:t>
            </a:r>
            <a:r>
              <a:rPr sz="155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3.  Every stage needs </a:t>
            </a:r>
            <a:r>
              <a:rPr sz="1550" b="1">
                <a:solidFill>
                  <a:srgbClr val="1A1A1A"/>
                </a:solidFill>
                <a:latin typeface="Calibri"/>
              </a:rPr>
              <a:t>guardrails</a:t>
            </a:r>
            <a:r>
              <a:rPr sz="1550" b="0">
                <a:solidFill>
                  <a:srgbClr val="1A1A1A"/>
                </a:solidFill>
                <a:latin typeface="Calibri"/>
              </a:rPr>
              <a:t>, because the caller is nondeterministic.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scikit-fem: the whole workflow in 30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66928" y="1188720"/>
            <a:ext cx="11057839" cy="4177157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*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from</a:t>
            </a:r>
            <a:r>
              <a:rPr sz="1250" i="0">
                <a:solidFill>
                  <a:srgbClr val="1A1A1A"/>
                </a:solidFill>
                <a:latin typeface="Consolas"/>
              </a:rPr>
              <a:t> skfem.helpers </a:t>
            </a:r>
            <a:r>
              <a:rPr sz="1250" i="0">
                <a:solidFill>
                  <a:srgbClr val="005AA0"/>
                </a:solidFill>
                <a:latin typeface="Consolas"/>
              </a:rPr>
              <a:t>import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dot, grad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@BilinearForm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weak form:  a(u,v) = int grad u . grad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stiffness(u, 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dot(grad(u), grad(v))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@LinearForm    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load:       L(v)   = int 1 * v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005AA0"/>
                </a:solidFill>
                <a:latin typeface="Consolas"/>
              </a:rPr>
              <a:t>def</a:t>
            </a:r>
            <a:r>
              <a:rPr sz="1250" i="0">
                <a:solidFill>
                  <a:srgbClr val="1A1A1A"/>
                </a:solidFill>
                <a:latin typeface="Consolas"/>
              </a:rPr>
              <a:t> unit_load(v, w):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    </a:t>
            </a:r>
            <a:r>
              <a:rPr sz="125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50" i="0">
                <a:solidFill>
                  <a:srgbClr val="1A1A1A"/>
                </a:solidFill>
                <a:latin typeface="Consolas"/>
              </a:rPr>
              <a:t> 1.0 * v</a:t>
            </a:r>
          </a:p>
          <a:p>
            <a:pPr algn="l">
              <a:lnSpc>
                <a:spcPct val="106000"/>
              </a:lnSpc>
            </a:pPr>
            <a:endParaRPr sz="125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  = MeshTri.init_lshaped().refined(2)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"CAD" + mesh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basis = Basis(mesh, ElementTriP1())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discretization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K = stiffness.assemble(basis)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assemble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b = unit_load.assemble(basis)</a:t>
            </a: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u = solve(*condense(K, b, D=mesh.boundary_nodes()))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solve</a:t>
            </a:r>
          </a:p>
          <a:p>
            <a:pPr algn="l">
              <a:lnSpc>
                <a:spcPct val="106000"/>
              </a:lnSpc>
            </a:pPr>
            <a:endParaRPr sz="1250" i="1">
              <a:solidFill>
                <a:srgbClr val="787878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50" i="0">
                <a:solidFill>
                  <a:srgbClr val="1A1A1A"/>
                </a:solidFill>
                <a:latin typeface="Consolas"/>
              </a:rPr>
              <a:t>mesh.draw(); basis.plot(u)                     </a:t>
            </a:r>
            <a:r>
              <a:rPr sz="1250" i="1">
                <a:solidFill>
                  <a:srgbClr val="787878"/>
                </a:solidFill>
                <a:latin typeface="Consolas"/>
              </a:rPr>
              <a:t># post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578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Pure Python, pip-installable, runs in Colab. Small enough to read in one sitting, real enough to show genuine convergence behaviour — which is why we use it rather than a production code.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Re-cutting the workflow as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agent cannot hold a </a:t>
            </a:r>
            <a:r>
              <a:rPr sz="1400" b="0">
                <a:solidFill>
                  <a:srgbClr val="1A1A1A"/>
                </a:solidFill>
                <a:latin typeface="Consolas"/>
              </a:rPr>
              <a:t>MeshTri</a:t>
            </a:r>
            <a:r>
              <a:rPr sz="1550" b="0">
                <a:solidFill>
                  <a:srgbClr val="1A1A1A"/>
                </a:solidFill>
                <a:latin typeface="Calibri"/>
              </a:rPr>
              <a:t> object. It can hold an integer.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1057839" cy="3227832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28016" rIns="73152" bIns="128016" rtlCol="0" anchor="t"/>
          <a:lstStyle/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MESH_REGISTRY = {}           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int -&gt; mesh.  The agent sees only the int.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NEXT_ID = [0]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_register(mesh):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mid = NEXT_ID[0]; NEXT_ID[0] += 1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MESH_REGISTRY[mid] = mesh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mid</a:t>
            </a:r>
          </a:p>
          <a:p>
            <a:pPr algn="l">
              <a:lnSpc>
                <a:spcPct val="106000"/>
              </a:lnSpc>
            </a:pPr>
            <a:endParaRPr sz="1200" i="0">
              <a:solidFill>
                <a:srgbClr val="1A1A1A"/>
              </a:solidFill>
              <a:latin typeface="Consolas"/>
            </a:endParaRP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005AA0"/>
                </a:solidFill>
                <a:latin typeface="Consolas"/>
              </a:rPr>
              <a:t>def</a:t>
            </a:r>
            <a:r>
              <a:rPr sz="1200" i="0">
                <a:solidFill>
                  <a:srgbClr val="1A1A1A"/>
                </a:solidFill>
                <a:latin typeface="Consolas"/>
              </a:rPr>
              <a:t> tool_solve_poisson(mesh_id: int):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m = MESH_REGISTRY.get(mesh_id)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if</a:t>
            </a:r>
            <a:r>
              <a:rPr sz="1200" i="0">
                <a:solidFill>
                  <a:srgbClr val="1A1A1A"/>
                </a:solidFill>
                <a:latin typeface="Consolas"/>
              </a:rPr>
              <a:t> m is </a:t>
            </a:r>
            <a:r>
              <a:rPr sz="1200" i="0">
                <a:solidFill>
                  <a:srgbClr val="005AA0"/>
                </a:solidFill>
                <a:latin typeface="Consolas"/>
              </a:rPr>
              <a:t>None</a:t>
            </a:r>
            <a:r>
              <a:rPr sz="1200" i="0">
                <a:solidFill>
                  <a:srgbClr val="1A1A1A"/>
                </a:solidFill>
                <a:latin typeface="Consolas"/>
              </a:rPr>
              <a:t>: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f</a:t>
            </a:r>
            <a:r>
              <a:rPr sz="1200" i="0">
                <a:solidFill>
                  <a:srgbClr val="8C3C14"/>
                </a:solidFill>
                <a:latin typeface="Consolas"/>
              </a:rPr>
              <a:t>"no mesh with id {mesh_id}"</a:t>
            </a:r>
            <a:r>
              <a:rPr sz="1200" i="0">
                <a:solidFill>
                  <a:srgbClr val="1A1A1A"/>
                </a:solidFill>
                <a:latin typeface="Consolas"/>
              </a:rPr>
              <a:t>}     </a:t>
            </a:r>
            <a:r>
              <a:rPr sz="1200" i="1">
                <a:solidFill>
                  <a:srgbClr val="787878"/>
                </a:solidFill>
                <a:latin typeface="Consolas"/>
              </a:rPr>
              <a:t># observation, not crash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u, basis = solve_poisson_on(m)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</a:t>
            </a:r>
            <a:r>
              <a:rPr sz="1200" i="0">
                <a:solidFill>
                  <a:srgbClr val="005AA0"/>
                </a:solidFill>
                <a:latin typeface="Consolas"/>
              </a:rPr>
              <a:t>return</a:t>
            </a:r>
            <a:r>
              <a:rPr sz="1200" i="0">
                <a:solidFill>
                  <a:srgbClr val="1A1A1A"/>
                </a:solidFill>
                <a:latin typeface="Consolas"/>
              </a:rPr>
              <a:t> {</a:t>
            </a:r>
            <a:r>
              <a:rPr sz="1200" i="0">
                <a:solidFill>
                  <a:srgbClr val="8C3C14"/>
                </a:solidFill>
                <a:latin typeface="Consolas"/>
              </a:rPr>
              <a:t>"mesh_id"</a:t>
            </a:r>
            <a:r>
              <a:rPr sz="1200" i="0">
                <a:solidFill>
                  <a:srgbClr val="1A1A1A"/>
                </a:solidFill>
                <a:latin typeface="Consolas"/>
              </a:rPr>
              <a:t>: mesh_id, </a:t>
            </a:r>
            <a:r>
              <a:rPr sz="1200" i="0">
                <a:solidFill>
                  <a:srgbClr val="8C3C14"/>
                </a:solidFill>
                <a:latin typeface="Consolas"/>
              </a:rPr>
              <a:t>"dofs"</a:t>
            </a:r>
            <a:r>
              <a:rPr sz="1200" i="0">
                <a:solidFill>
                  <a:srgbClr val="1A1A1A"/>
                </a:solidFill>
                <a:latin typeface="Consolas"/>
              </a:rPr>
              <a:t>: int(basis.N),</a:t>
            </a:r>
          </a:p>
          <a:p>
            <a:pPr algn="l">
              <a:lnSpc>
                <a:spcPct val="106000"/>
              </a:lnSpc>
            </a:pPr>
            <a:r>
              <a:rPr sz="1200" i="0">
                <a:solidFill>
                  <a:srgbClr val="1A1A1A"/>
                </a:solidFill>
                <a:latin typeface="Consolas"/>
              </a:rPr>
              <a:t>            </a:t>
            </a:r>
            <a:r>
              <a:rPr sz="1200" i="0">
                <a:solidFill>
                  <a:srgbClr val="8C3C14"/>
                </a:solidFill>
                <a:latin typeface="Consolas"/>
              </a:rPr>
              <a:t>"H1_error"</a:t>
            </a:r>
            <a:r>
              <a:rPr sz="1200" i="0">
                <a:solidFill>
                  <a:srgbClr val="1A1A1A"/>
                </a:solidFill>
                <a:latin typeface="Consolas"/>
              </a:rPr>
              <a:t>: h1_error(m, u)}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937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This </a:t>
            </a:r>
            <a:r>
              <a:rPr sz="1500" b="1">
                <a:solidFill>
                  <a:srgbClr val="AA1E1E"/>
                </a:solidFill>
                <a:latin typeface="Calibri"/>
              </a:rPr>
              <a:t>handle pattern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single most reusable idea in the talk. Meshes, solver contexts, CAD bodies, open files, database cursors — anything with identity and no JSON representation gets an integer and a registry.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Task: adaptive refinement on the L-shape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Poisson with uniform forcing: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−Δu = 1  in Ω,        u = 0  on ∂Ω.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re-entrant corner gives a singular solution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        u ∼ r^(2/3) · sin(2θ/3),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so u ∈ H^(5/3−ε) but u ∉ H².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P1 elements, expected rates: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Uniform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O(h^(2/3)) asymptotically. Pre-asymptotically you often see 0.7–0.95.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450" b="1">
                <a:solidFill>
                  <a:srgbClr val="1A1A1A"/>
                </a:solidFill>
                <a:latin typeface="Calibri"/>
              </a:rPr>
              <a:t>Adaptive</a:t>
            </a:r>
            <a:r>
              <a:rPr sz="1450" b="0">
                <a:solidFill>
                  <a:srgbClr val="1A1A1A"/>
                </a:solidFill>
                <a:latin typeface="Calibri"/>
              </a:rPr>
              <a:t> refinement: optimal O(N^(−1/2)), i.e. rate 1 against h ∼ N^(−1/2).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09160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The gap between those two rates is the entire point of adaptive meshing. </a:t>
            </a:r>
            <a:r>
              <a:rPr sz="1400" b="1">
                <a:solidFill>
                  <a:srgbClr val="AA1E1E"/>
                </a:solidFill>
                <a:latin typeface="Calibri"/>
              </a:rPr>
              <a:t>We are going to make an agent rediscover it.</a:t>
            </a:r>
          </a:p>
        </p:txBody>
      </p:sp>
      <p:sp>
        <p:nvSpPr>
          <p:cNvPr id="6" name="Freeform 5"/>
          <p:cNvSpPr/>
          <p:nvPr/>
        </p:nvSpPr>
        <p:spPr>
          <a:xfrm>
            <a:off x="8092440" y="1691640"/>
            <a:ext cx="2596896" cy="2596896"/>
          </a:xfrm>
          <a:custGeom>
            <a:avLst/>
            <a:gdLst/>
            <a:ahLst/>
            <a:cxnLst/>
            <a:rect l="l" t="t" r="r" b="b"/>
            <a:pathLst>
              <a:path w="2596896" h="2596896">
                <a:moveTo>
                  <a:pt x="1298448" y="1298448"/>
                </a:moveTo>
                <a:lnTo>
                  <a:pt x="2596896" y="1298448"/>
                </a:lnTo>
                <a:lnTo>
                  <a:pt x="2596896" y="0"/>
                </a:lnTo>
                <a:lnTo>
                  <a:pt x="0" y="0"/>
                </a:lnTo>
                <a:lnTo>
                  <a:pt x="0" y="2596896"/>
                </a:lnTo>
                <a:lnTo>
                  <a:pt x="1298448" y="2596896"/>
                </a:lnTo>
                <a:close/>
              </a:path>
            </a:pathLst>
          </a:custGeom>
          <a:solidFill>
            <a:srgbClr val="E8EEF7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340596" y="2939796"/>
            <a:ext cx="100584" cy="100584"/>
          </a:xfrm>
          <a:prstGeom prst="ellipse">
            <a:avLst/>
          </a:prstGeom>
          <a:solidFill>
            <a:srgbClr val="AA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0615" y="308152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re-entrant</a:t>
            </a:r>
          </a:p>
          <a:p>
            <a:pPr algn="l"/>
            <a:r>
              <a:rPr sz="1050" b="0">
                <a:solidFill>
                  <a:srgbClr val="6E6E6E"/>
                </a:solidFill>
                <a:latin typeface="Calibri"/>
              </a:rPr>
              <a:t>corner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19456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384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500" b="1" dirty="0">
                <a:solidFill>
                  <a:srgbClr val="1A1A1A"/>
                </a:solidFill>
                <a:latin typeface="Calibri"/>
              </a:rPr>
              <a:t>The process for adaptive FEM</a:t>
            </a:r>
            <a:endParaRPr sz="2500" b="1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1. A local error indicator ηₖ.</a:t>
            </a:r>
            <a:r>
              <a:rPr sz="1500" b="0">
                <a:solidFill>
                  <a:srgbClr val="1A1A1A"/>
                </a:solidFill>
                <a:latin typeface="Calibri"/>
              </a:rPr>
              <a:t>  For each element K, a computable proxy for how much error lives there. We use the gradient-jump indicator:</a:t>
            </a:r>
          </a:p>
        </p:txBody>
      </p:sp>
      <p:pic>
        <p:nvPicPr>
          <p:cNvPr id="5" name="Picture 4" descr="indic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874519"/>
            <a:ext cx="4217833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74320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P1 gradients are discontinuous across element edges, and the size of the jump correlates with the local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375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2. Dörfler marking.</a:t>
            </a:r>
            <a:r>
              <a:rPr sz="1500" b="0">
                <a:solidFill>
                  <a:srgbClr val="1A1A1A"/>
                </a:solidFill>
                <a:latin typeface="Calibri"/>
              </a:rPr>
              <a:t>  Pick a bulk fraction θ ∈ (0,1). Mark the smallest set M whose squared indicators capture a fraction θ of the total: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     Σ(K ∈ M)  η²ₖ      ≥      θ · Σ(K)  η²ₖ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A2CD42-3271-BA83-4905-4A98FC222B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672"/>
          <a:stretch>
            <a:fillRect/>
          </a:stretch>
        </p:blipFill>
        <p:spPr>
          <a:xfrm>
            <a:off x="566928" y="4288536"/>
            <a:ext cx="10098537" cy="25694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 dirty="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48</a:t>
            </a:fld>
            <a:endParaRPr lang="en-US" sz="900" dirty="0">
              <a:solidFill>
                <a:srgbClr val="9A9A9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Tools the FEM agent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49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Each takes a </a:t>
            </a:r>
            <a:r>
              <a:rPr sz="1350" b="0">
                <a:solidFill>
                  <a:srgbClr val="1A1A1A"/>
                </a:solidFill>
                <a:latin typeface="Consolas"/>
              </a:rPr>
              <a:t>mesh_id</a:t>
            </a:r>
            <a:r>
              <a:rPr sz="1500" b="0">
                <a:solidFill>
                  <a:srgbClr val="1A1A1A"/>
                </a:solidFill>
                <a:latin typeface="Calibri"/>
              </a:rPr>
              <a:t> and returns a 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solve_poisson(mesh_id)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</a:t>
            </a:r>
            <a:r>
              <a:rPr sz="1350" b="0">
                <a:solidFill>
                  <a:srgbClr val="1A1A1A"/>
                </a:solidFill>
                <a:latin typeface="Consolas"/>
              </a:rPr>
              <a:t>{dofs, H1_error}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local_indicators(mesh_id)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summary stats of ηₖ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uniform_refine(mesh_id)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new mesh id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refine_by_threshold(mesh_id, theta)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Dörfler-mark and refine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check_convergence_rate()</a:t>
            </a:r>
            <a:r>
              <a:rPr sz="1500" b="0">
                <a:solidFill>
                  <a:srgbClr val="1A1A1A"/>
                </a:solidFill>
                <a:latin typeface="Calibri"/>
              </a:rPr>
              <a:t>  →  log-log slope of the last 3 solves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stop(reason)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9476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Guardrails, in the tools: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MAX_DOFS = 20000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a refinement that would exceed it returns an error observation instead of allocating.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Every dispatch is </a:t>
            </a:r>
            <a:r>
              <a:rPr sz="1350" b="0">
                <a:solidFill>
                  <a:srgbClr val="1A1A1A"/>
                </a:solidFill>
                <a:latin typeface="Consolas"/>
              </a:rPr>
              <a:t>try/except</a:t>
            </a:r>
            <a:r>
              <a:rPr sz="1500" b="0">
                <a:solidFill>
                  <a:srgbClr val="1A1A1A"/>
                </a:solidFill>
                <a:latin typeface="Calibri"/>
              </a:rPr>
              <a:t> wrapped.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onsolas"/>
              </a:rPr>
              <a:t>stop</a:t>
            </a:r>
            <a:r>
              <a:rPr sz="1500" b="0">
                <a:solidFill>
                  <a:srgbClr val="1A1A1A"/>
                </a:solidFill>
                <a:latin typeface="Calibri"/>
              </a:rPr>
              <a:t> is the only terminal tool.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651760"/>
            <a:ext cx="110578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1A1A"/>
                </a:solidFill>
                <a:latin typeface="Calibri"/>
              </a:rPr>
              <a:t>Reliability</a:t>
            </a:r>
          </a:p>
          <a:p>
            <a:pPr algn="ctr">
              <a:spcBef>
                <a:spcPts val="1000"/>
              </a:spcBef>
            </a:pPr>
            <a:r>
              <a:rPr sz="1700" b="0">
                <a:solidFill>
                  <a:srgbClr val="6E6E6E"/>
                </a:solidFill>
                <a:latin typeface="Calibri"/>
              </a:rPr>
              <a:t>or: agents are confidently wrong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94960" y="2395728"/>
            <a:ext cx="1399032" cy="0"/>
          </a:xfrm>
          <a:prstGeom prst="line">
            <a:avLst/>
          </a:prstGeom>
          <a:ln w="31750">
            <a:solidFill>
              <a:srgbClr val="AA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failure mode that should actually worry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51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A crashed tool call is </a:t>
            </a:r>
            <a:r>
              <a:rPr sz="1600" b="0" i="1">
                <a:solidFill>
                  <a:srgbClr val="1A1A1A"/>
                </a:solidFill>
                <a:latin typeface="Calibri"/>
              </a:rPr>
              <a:t>fine</a:t>
            </a:r>
            <a:r>
              <a:rPr sz="1600" b="0">
                <a:solidFill>
                  <a:srgbClr val="1A1A1A"/>
                </a:solidFill>
                <a:latin typeface="Calibri"/>
              </a:rPr>
              <a:t>. You see a traceback; the model retries.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900" b="0">
                <a:solidFill>
                  <a:srgbClr val="1A1A1A"/>
                </a:solidFill>
                <a:latin typeface="Calibri"/>
              </a:rPr>
              <a:t>The dangerous output is a </a:t>
            </a:r>
            <a:r>
              <a:rPr sz="1900" b="1">
                <a:solidFill>
                  <a:srgbClr val="AA1E1E"/>
                </a:solidFill>
                <a:latin typeface="Calibri"/>
              </a:rPr>
              <a:t>plausible number with a confident summary</a:t>
            </a:r>
            <a:r>
              <a:rPr sz="1900" b="0">
                <a:solidFill>
                  <a:srgbClr val="1A1A1A"/>
                </a:solidFill>
                <a:latin typeface="Calibri"/>
              </a:rPr>
              <a:t> and a bug upstream of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88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In our setting, all of these produce clean-looking convergence plots: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agent refines toward the wrong corner and the error still decreases;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error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estimate</a:t>
            </a:r>
            <a:r>
              <a:rPr sz="1500" b="0">
                <a:solidFill>
                  <a:srgbClr val="1A1A1A"/>
                </a:solidFill>
                <a:latin typeface="Calibri"/>
              </a:rPr>
              <a:t> is fine but the solver has a sign error in the load;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reference energy is computed on too coarse a mesh, so every error looks small;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the agent stops early and reports the tolerance as met.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6636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0">
                <a:solidFill>
                  <a:srgbClr val="1A1A1A"/>
                </a:solidFill>
                <a:latin typeface="Calibri"/>
              </a:rPr>
              <a:t>None of these announce themselves. </a:t>
            </a:r>
            <a:r>
              <a:rPr sz="1700" b="1">
                <a:solidFill>
                  <a:srgbClr val="AA1E1E"/>
                </a:solidFill>
                <a:latin typeface="Calibri"/>
              </a:rPr>
              <a:t>Something independent has to check.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The verifier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52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417320" y="141732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E8EEF7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Agent A</a:t>
            </a:r>
          </a:p>
          <a:p>
            <a:pPr algn="ctr"/>
            <a:r>
              <a:rPr sz="1250" b="0">
                <a:solidFill>
                  <a:srgbClr val="6E6E6E"/>
                </a:solidFill>
                <a:latin typeface="Calibri"/>
              </a:rPr>
              <a:t>does the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41732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E6F2E6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Agent B</a:t>
            </a:r>
          </a:p>
          <a:p>
            <a:pPr algn="ctr"/>
            <a:r>
              <a:rPr sz="1250" b="0">
                <a:solidFill>
                  <a:srgbClr val="6E6E6E"/>
                </a:solidFill>
                <a:latin typeface="Calibri"/>
              </a:rPr>
              <a:t>checks the 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41732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FAEDE0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PASS / FAIL</a:t>
            </a:r>
          </a:p>
          <a:p>
            <a:pPr algn="ctr"/>
            <a:r>
              <a:rPr sz="1250" b="0">
                <a:solidFill>
                  <a:srgbClr val="6E6E6E"/>
                </a:solidFill>
                <a:latin typeface="Calibri"/>
              </a:rPr>
              <a:t>+ justification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V="1">
            <a:off x="4160520" y="1897380"/>
            <a:ext cx="54864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V="1">
            <a:off x="7452360" y="1897380"/>
            <a:ext cx="548640" cy="0"/>
          </a:xfrm>
          <a:prstGeom prst="line">
            <a:avLst/>
          </a:prstGeom>
          <a:ln w="15875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77639" y="16459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6E6E6E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8716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different system prompt</a:t>
            </a:r>
          </a:p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different tools</a:t>
            </a:r>
          </a:p>
          <a:p>
            <a:pPr algn="ctr"/>
            <a:r>
              <a:rPr sz="1050" b="0" i="1">
                <a:solidFill>
                  <a:srgbClr val="6E6E6E"/>
                </a:solidFill>
                <a:latin typeface="Calibri"/>
              </a:rPr>
              <a:t>does not see A’s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204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 verifier is just another agent. What makes it useful is what it is </a:t>
            </a:r>
            <a:r>
              <a:rPr sz="1500" b="0" i="1">
                <a:solidFill>
                  <a:srgbClr val="1A1A1A"/>
                </a:solidFill>
                <a:latin typeface="Calibri"/>
              </a:rPr>
              <a:t>denied</a:t>
            </a:r>
            <a:r>
              <a:rPr sz="1500" b="0">
                <a:solidFill>
                  <a:srgbClr val="1A1A1A"/>
                </a:solidFill>
                <a:latin typeface="Calibri"/>
              </a:rPr>
              <a:t>: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It does not see how the answer was produced — only the claim.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It has its </a:t>
            </a:r>
            <a:r>
              <a:rPr sz="1500" b="1">
                <a:solidFill>
                  <a:srgbClr val="AA1E1E"/>
                </a:solidFill>
                <a:latin typeface="Calibri"/>
              </a:rPr>
              <a:t>own tools</a:t>
            </a:r>
            <a:r>
              <a:rPr sz="1500" b="0">
                <a:solidFill>
                  <a:srgbClr val="1A1A1A"/>
                </a:solidFill>
                <a:latin typeface="Calibri"/>
              </a:rPr>
              <a:t>, ideally sharing no code path with A’s.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Its system prompt rewards finding problems, not agreeing.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4924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If A and B share the buggy solver, B will happily confirm the bug. Independence is a property of the </a:t>
            </a:r>
            <a:r>
              <a:rPr sz="1300" b="0" i="1">
                <a:solidFill>
                  <a:srgbClr val="1A1A1A"/>
                </a:solidFill>
                <a:latin typeface="Calibri"/>
              </a:rPr>
              <a:t>tools</a:t>
            </a:r>
            <a:r>
              <a:rPr sz="1300" b="0">
                <a:solidFill>
                  <a:srgbClr val="1A1A1A"/>
                </a:solidFill>
                <a:latin typeface="Calibri"/>
              </a:rPr>
              <a:t>, not the prompt.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Two verifiers we actually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53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Verifier 1 — manufactured solutions (for the FEM task).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Pick a smooth u_exact, compute f = −Δu_exact symbolically, solve with u_h = u_exact on ∂Ω, and measure the error. For smooth u_exact and P1 elements the rates are known: L² error O(h²), H¹-seminorm error O(h).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agent </a:t>
            </a:r>
            <a:r>
              <a:rPr sz="1450" b="0" i="1">
                <a:solidFill>
                  <a:srgbClr val="1A1A1A"/>
                </a:solidFill>
                <a:latin typeface="Calibri"/>
              </a:rPr>
              <a:t>chooses</a:t>
            </a:r>
            <a:r>
              <a:rPr sz="1450" b="0">
                <a:solidFill>
                  <a:srgbClr val="1A1A1A"/>
                </a:solidFill>
                <a:latin typeface="Calibri"/>
              </a:rPr>
              <a:t> u_exact — itself a small test of whether it understands the problem. A verifier that picks u = x + y has proven nothing, since P1 reproduces it exactly.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1">
                <a:solidFill>
                  <a:srgbClr val="1A1A1A"/>
                </a:solidFill>
                <a:latin typeface="Calibri"/>
              </a:rPr>
              <a:t>Verifier 2 — an oracle integrator (for the projectile task).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The simulator uses </a:t>
            </a:r>
            <a:r>
              <a:rPr sz="1300" b="0">
                <a:solidFill>
                  <a:srgbClr val="1A1A1A"/>
                </a:solidFill>
                <a:latin typeface="Consolas"/>
              </a:rPr>
              <a:t>odeint</a:t>
            </a:r>
            <a:r>
              <a:rPr sz="1450" b="0">
                <a:solidFill>
                  <a:srgbClr val="1A1A1A"/>
                </a:solidFill>
                <a:latin typeface="Calibri"/>
              </a:rPr>
              <a:t> at default tolerance. The verifier re-integrates the claimed optimum with </a:t>
            </a:r>
            <a:r>
              <a:rPr sz="1300" b="0">
                <a:solidFill>
                  <a:srgbClr val="1A1A1A"/>
                </a:solidFill>
                <a:latin typeface="Consolas"/>
              </a:rPr>
              <a:t>solve_ivp(method="RK45", rtol=1e-10)</a:t>
            </a:r>
            <a:r>
              <a:rPr sz="1450" b="0">
                <a:solidFill>
                  <a:srgbClr val="1A1A1A"/>
                </a:solidFill>
                <a:latin typeface="Calibri"/>
              </a:rPr>
              <a:t> and reports the discrepancy — catching the case where the “optimum” is an artifact of integration error rather than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4068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>
                <a:solidFill>
                  <a:srgbClr val="AA1E1E"/>
                </a:solidFill>
                <a:latin typeface="Calibri"/>
              </a:rPr>
              <a:t>Both are ordinary numerical-methods practice.</a:t>
            </a:r>
            <a:r>
              <a:rPr sz="1500" b="0">
                <a:solidFill>
                  <a:srgbClr val="1A1A1A"/>
                </a:solidFill>
                <a:latin typeface="Calibri"/>
              </a:rPr>
              <a:t>  The agent framing changes nothing about what makes a result trustworthy.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Where verification belongs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54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Recall the LangGraph exemplar. This is why it was the exemplar.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83080"/>
          <a:ext cx="11057838" cy="1682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05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A1A1A"/>
                          </a:solidFill>
                          <a:latin typeface="Calibri"/>
                        </a:rPr>
                        <a:t>Verification as…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A1A1A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 marL="82296" marR="54864" marT="27432" marB="27432" anchor="ctr">
                    <a:solidFill>
                      <a:srgbClr val="ECE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 line in the system prompt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 suggestion, followed most of the time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 tool the agent may call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used when the agent feels uncertain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A1A1A"/>
                          </a:solidFill>
                          <a:latin typeface="Calibri"/>
                        </a:rPr>
                        <a:t>a node in a graph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A1A1A"/>
                          </a:solidFill>
                          <a:latin typeface="Calibri"/>
                        </a:rPr>
                        <a:t>runs every time, or the result never ships</a:t>
                      </a:r>
                    </a:p>
                  </a:txBody>
                  <a:tcPr marL="82296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3192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The pattern and the reliability requirement are the same decision. Choosing LangGraph over ReAct for the production FEM workflow </a:t>
            </a:r>
            <a:r>
              <a:rPr sz="1550" b="0" i="1">
                <a:solidFill>
                  <a:srgbClr val="1A1A1A"/>
                </a:solidFill>
                <a:latin typeface="Calibri"/>
              </a:rPr>
              <a:t>is</a:t>
            </a:r>
            <a:r>
              <a:rPr sz="1550" b="0">
                <a:solidFill>
                  <a:srgbClr val="1A1A1A"/>
                </a:solidFill>
                <a:latin typeface="Calibri"/>
              </a:rPr>
              <a:t> choosing to make verification non-optional.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983480"/>
            <a:ext cx="11057839" cy="5257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ctr"/>
          <a:lstStyle/>
          <a:p>
            <a:pPr algn="l"/>
            <a:r>
              <a:rPr sz="1350" b="0">
                <a:solidFill>
                  <a:srgbClr val="1A1A1A"/>
                </a:solidFill>
                <a:latin typeface="Calibri"/>
              </a:rPr>
              <a:t>This is the thread that connects the framework zoo to the engineering: you don’t pick a framework by taste, you pick it by which guarantee you need.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Hands-on: what you’ll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55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Notebook `01_agentic_patterns.ipynb`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the zoo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§1–§5: each pattern, twice (framework syntax + ~15 lines from scratch)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§6: </a:t>
            </a:r>
            <a:r>
              <a:rPr sz="1500" b="1">
                <a:solidFill>
                  <a:srgbClr val="1A1A1A"/>
                </a:solidFill>
                <a:latin typeface="Calibri"/>
              </a:rPr>
              <a:t>ReAct vs. MPC head-to-head</a:t>
            </a:r>
            <a:r>
              <a:rPr sz="1500" b="0">
                <a:solidFill>
                  <a:srgbClr val="1A1A1A"/>
                </a:solidFill>
                <a:latin typeface="Calibri"/>
              </a:rPr>
              <a:t> on the projectile, same budget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0">
                <a:solidFill>
                  <a:srgbClr val="1A1A1A"/>
                </a:solidFill>
                <a:latin typeface="Calibri"/>
              </a:rPr>
              <a:t>§7: </a:t>
            </a:r>
            <a:r>
              <a:rPr sz="1350" b="0">
                <a:solidFill>
                  <a:srgbClr val="1A1A1A"/>
                </a:solidFill>
                <a:latin typeface="Consolas"/>
              </a:rPr>
              <a:t>scipy.optimize</a:t>
            </a:r>
            <a:r>
              <a:rPr sz="1500" b="0">
                <a:solidFill>
                  <a:srgbClr val="1A1A1A"/>
                </a:solidFill>
                <a:latin typeface="Calibri"/>
              </a:rPr>
              <a:t> baseline — the result that keeps us honest</a:t>
            </a:r>
          </a:p>
          <a:p>
            <a:r>
              <a:rPr sz="700"/>
              <a:t> 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Notebook `02_agent_hackathon.ipynb`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the FEM hackathon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>
                <a:solidFill>
                  <a:srgbClr val="1A1A1A"/>
                </a:solidFill>
                <a:latin typeface="Calibri"/>
              </a:rPr>
              <a:t>A1</a:t>
            </a:r>
            <a:r>
              <a:rPr sz="1500" b="0">
                <a:solidFill>
                  <a:srgbClr val="1A1A1A"/>
                </a:solidFill>
                <a:latin typeface="Calibri"/>
              </a:rPr>
              <a:t>: uniform-refinement agent (</a:t>
            </a:r>
            <a:r>
              <a:rPr sz="1350" b="0">
                <a:solidFill>
                  <a:srgbClr val="1A1A1A"/>
                </a:solidFill>
                <a:latin typeface="Consolas"/>
              </a:rPr>
              <a:t>uniform_refine</a:t>
            </a:r>
            <a:r>
              <a:rPr sz="1500" b="0">
                <a:solidFill>
                  <a:srgbClr val="1A1A1A"/>
                </a:solidFill>
                <a:latin typeface="Calibri"/>
              </a:rPr>
              <a:t> only)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>
                <a:solidFill>
                  <a:srgbClr val="1A1A1A"/>
                </a:solidFill>
                <a:latin typeface="Calibri"/>
              </a:rPr>
              <a:t>A2</a:t>
            </a:r>
            <a:r>
              <a:rPr sz="1500" b="0">
                <a:solidFill>
                  <a:srgbClr val="1A1A1A"/>
                </a:solidFill>
                <a:latin typeface="Calibri"/>
              </a:rPr>
              <a:t>: adaptive agent (Dörfler marking, θ = 0.5)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>
                <a:solidFill>
                  <a:srgbClr val="1A1A1A"/>
                </a:solidFill>
                <a:latin typeface="Calibri"/>
              </a:rPr>
              <a:t>A3</a:t>
            </a:r>
            <a:r>
              <a:rPr sz="1500" b="0">
                <a:solidFill>
                  <a:srgbClr val="1A1A1A"/>
                </a:solidFill>
                <a:latin typeface="Calibri"/>
              </a:rPr>
              <a:t>: rate-checking agent (adapts θ when the rate drops)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>
                <a:solidFill>
                  <a:srgbClr val="1A1A1A"/>
                </a:solidFill>
                <a:latin typeface="Calibri"/>
              </a:rPr>
              <a:t>V</a:t>
            </a:r>
            <a:r>
              <a:rPr sz="1500" b="0">
                <a:solidFill>
                  <a:srgbClr val="1A1A1A"/>
                </a:solidFill>
                <a:latin typeface="Calibri"/>
              </a:rPr>
              <a:t>: manufactured-solution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07492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Every TODO has a worked solution one cell below. </a:t>
            </a:r>
            <a:r>
              <a:rPr sz="1500" b="1">
                <a:solidFill>
                  <a:srgbClr val="AA1E1E"/>
                </a:solidFill>
                <a:latin typeface="Calibri"/>
              </a:rPr>
              <a:t>Use it.</a:t>
            </a:r>
            <a:r>
              <a:rPr sz="1500" b="0">
                <a:solidFill>
                  <a:srgbClr val="1A1A1A"/>
                </a:solidFill>
                <a:latin typeface="Calibri"/>
              </a:rPr>
              <a:t>  Reading a good system prompt is the fastest way to learn to write one.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Stretch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56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If you finish early, or want somewhere to go afterward: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11057839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Swap the backend.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Point the </a:t>
            </a:r>
            <a:r>
              <a:rPr lang="en-US" sz="1500" b="0" dirty="0">
                <a:solidFill>
                  <a:srgbClr val="1A1A1A"/>
                </a:solidFill>
                <a:latin typeface="Calibri"/>
              </a:rPr>
              <a:t>LLM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at Anthropic or OpenAI and see what changes in the tool-call round trip. (Answer: less than you’d expect.)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Break a tool on purpose.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Introduce a sign error in the load vector. Does your verifier catch it? Does the convergence plot?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Wire the FEM tools as a real graph.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Take the A2 agent and put the verifier on a conditional edge so a FAIL routes to further refinement.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Adversarial verifier.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Rewrite the verifier’s system prompt to reward finding problems. Compare its pass rate against the neutral one.</a:t>
            </a:r>
          </a:p>
          <a:p>
            <a:pPr marL="274320" indent="-274320">
              <a:lnSpc>
                <a:spcPct val="100000"/>
              </a:lnSpc>
              <a:spcAft>
                <a:spcPts val="900"/>
              </a:spcAft>
              <a:buClr>
                <a:srgbClr val="AA1E1E"/>
              </a:buClr>
              <a:buFont typeface="Arial"/>
              <a:buChar char="▪"/>
            </a:pPr>
            <a:r>
              <a:rPr sz="1500" b="1" dirty="0">
                <a:solidFill>
                  <a:srgbClr val="1A1A1A"/>
                </a:solidFill>
                <a:latin typeface="Calibri"/>
              </a:rPr>
              <a:t>Serve the FEM tools over MCP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and drive them from a client that isn’t this notebook.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7432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1A1A"/>
                </a:solidFill>
                <a:latin typeface="Calibri"/>
              </a:rPr>
              <a:t>Taking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6327648"/>
            <a:ext cx="3840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  <a:latin typeface="Calibri"/>
              </a:rPr>
              <a:t>AESCAPE 2026  ·  Agentic AI  ·  </a:t>
            </a:r>
            <a:fld id="{B7C7A0D1-1A2B-4C3D-9E5F-6A7B8C9D0E1F}" type="slidenum">
              <a:rPr lang="en-US" sz="900">
                <a:solidFill>
                  <a:srgbClr val="9A9A9A"/>
                </a:solidFill>
                <a:latin typeface="Calibri"/>
              </a:rPr>
              <a:t>57</a:t>
            </a:fld>
            <a:endParaRPr lang="en-US" sz="900">
              <a:solidFill>
                <a:srgbClr val="9A9A9A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A1A"/>
                </a:solidFill>
                <a:latin typeface="Calibri"/>
              </a:rPr>
              <a:t>Agent patterns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ReAct — Yao et al. 2022, arxiv.org/abs/2210.03629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LangGraph — langchain-ai.github.io/langgraph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AutoGen — microsoft.github.io/autogen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Model Context Protocol — modelcontextprotocol.io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smolagents (minimal framework) — huggingface.co/docs/smolagents</a:t>
            </a:r>
          </a:p>
          <a:p>
            <a:r>
              <a:rPr sz="600"/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A1A"/>
                </a:solidFill>
                <a:latin typeface="Calibri"/>
              </a:rPr>
              <a:t>Agents doing science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FunSearch —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Nature</a:t>
            </a:r>
            <a:r>
              <a:rPr sz="1350" b="0">
                <a:solidFill>
                  <a:srgbClr val="1A1A1A"/>
                </a:solidFill>
                <a:latin typeface="Calibri"/>
              </a:rPr>
              <a:t> 625, 2024;   AlphaEvolve — DeepMind, 2025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ChemCrow — arxiv.org/abs/2304.05376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Coscientist —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Nature</a:t>
            </a:r>
            <a:r>
              <a:rPr sz="1350" b="0">
                <a:solidFill>
                  <a:srgbClr val="1A1A1A"/>
                </a:solidFill>
                <a:latin typeface="Calibri"/>
              </a:rPr>
              <a:t> 624, 2023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Sakana AI Scientist — sakana.ai/ai-scientist</a:t>
            </a:r>
          </a:p>
          <a:p>
            <a:r>
              <a:rPr sz="600"/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A1A"/>
                </a:solidFill>
                <a:latin typeface="Calibri"/>
              </a:rPr>
              <a:t>Numerics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scikit-fem — scikit-fem.readthedocs.io</a:t>
            </a:r>
          </a:p>
          <a:p>
            <a:pPr marL="274320" indent="-274320">
              <a:lnSpc>
                <a:spcPct val="100000"/>
              </a:lnSpc>
              <a:spcAft>
                <a:spcPts val="200"/>
              </a:spcAft>
              <a:buClr>
                <a:srgbClr val="AA1E1E"/>
              </a:buClr>
              <a:buFont typeface="Arial"/>
              <a:buChar char="▪"/>
            </a:pPr>
            <a:r>
              <a:rPr sz="1350" b="0">
                <a:solidFill>
                  <a:srgbClr val="1A1A1A"/>
                </a:solidFill>
                <a:latin typeface="Calibri"/>
              </a:rPr>
              <a:t>Dörfler, </a:t>
            </a:r>
            <a:r>
              <a:rPr sz="1350" b="0" i="1">
                <a:solidFill>
                  <a:srgbClr val="1A1A1A"/>
                </a:solidFill>
                <a:latin typeface="Calibri"/>
              </a:rPr>
              <a:t>SIAM J. Numer. Anal.</a:t>
            </a:r>
            <a:r>
              <a:rPr sz="1350" b="0">
                <a:solidFill>
                  <a:srgbClr val="1A1A1A"/>
                </a:solidFill>
                <a:latin typeface="Calibri"/>
              </a:rPr>
              <a:t> 33(3), 1996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7054</Words>
  <Application>Microsoft Office PowerPoint</Application>
  <PresentationFormat>Widescreen</PresentationFormat>
  <Paragraphs>682</Paragraphs>
  <Slides>57</Slides>
  <Notes>5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 Trask</cp:lastModifiedBy>
  <cp:revision>1</cp:revision>
  <dcterms:created xsi:type="dcterms:W3CDTF">2013-01-27T09:14:16Z</dcterms:created>
  <dcterms:modified xsi:type="dcterms:W3CDTF">2026-09-07T12:51:18Z</dcterms:modified>
  <cp:category/>
</cp:coreProperties>
</file>